
<file path=[Content_Types].xml><?xml version="1.0" encoding="utf-8"?>
<Types xmlns="http://schemas.openxmlformats.org/package/2006/content-types">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notesSlides/notesSlide1.xml" Type="http://schemas.openxmlformats.org/officeDocument/2006/relationships/notesSlide"/><Relationship Id="rId19" Target="notesSlides/notesSlide2.xml" Type="http://schemas.openxmlformats.org/officeDocument/2006/relationships/notesSlide"/><Relationship Id="rId2" Target="viewProps.xml" Type="http://schemas.openxmlformats.org/officeDocument/2006/relationships/viewProps"/><Relationship Id="rId20" Target="notesSlides/notesSlide3.xml" Type="http://schemas.openxmlformats.org/officeDocument/2006/relationships/notesSlide"/><Relationship Id="rId21" Target="notesSlides/notesSlide4.xml" Type="http://schemas.openxmlformats.org/officeDocument/2006/relationships/notesSlide"/><Relationship Id="rId22" Target="notesSlides/notesSlide5.xml" Type="http://schemas.openxmlformats.org/officeDocument/2006/relationships/notesSlide"/><Relationship Id="rId23" Target="notesSlides/notesSlide6.xml" Type="http://schemas.openxmlformats.org/officeDocument/2006/relationships/notesSlide"/><Relationship Id="rId24" Target="notesSlides/notesSlide7.xml" Type="http://schemas.openxmlformats.org/officeDocument/2006/relationships/notesSlide"/><Relationship Id="rId25" Target="notesSlides/notesSlide8.xml" Type="http://schemas.openxmlformats.org/officeDocument/2006/relationships/notesSlide"/><Relationship Id="rId26" Target="notesSlides/notesSlide9.xml" Type="http://schemas.openxmlformats.org/officeDocument/2006/relationships/notesSlide"/><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 type="body" sz="quarter"/>
          </p:nvPr>
        </p:nvSpPr>
        <p:spPr>
          <a:xfrm rot="0" flipH="false" flipV="false">
            <a:off x="1155700" y="282575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 type="body" sz="quarter"/>
          </p:nvPr>
        </p:nvSpPr>
        <p:spPr>
          <a:xfrm rot="0" flipH="false" flipV="false">
            <a:off x="635000" y="787400"/>
            <a:ext cx="5256743" cy="1485900"/>
          </a:xfrm>
          <a:prstGeom prst="rect">
            <a:avLst/>
          </a:prstGeom>
          <a:noFill/>
          <a:ln w="25400">
            <a:noFill/>
            <a:prstDash val="solid"/>
          </a:ln>
          <a:effectLst/>
        </p:spPr>
        <p:txBody>
          <a:bodyPr anchor="t" wrap="square" lIns="0" rIns="0" tIns="0" bIns="0">
            <a:spAutoFit/>
          </a:bodyPr>
          <a:lstStyle>
            <a:lvl1pPr algn="l">
              <a:lnSpc>
                <a:spcPct val="125000"/>
              </a:lnSpc>
              <a:defRPr sz="3800" b="true" i="false" u="none" strike="noStrike" spc="0">
                <a:solidFill>
                  <a:srgbClr val="1F2329">
                    <a:alpha val="100000"/>
                  </a:srgbClr>
                </a:solidFill>
                <a:latin typeface="Noto Sans SC"/>
              </a:defRPr>
            </a:lvl1pPr>
          </a:lstStyle>
          <a:p>
            <a:pPr algn="l"/>
            <a:endParaRPr/>
          </a:p>
        </p:txBody>
      </p:sp>
      <p:sp>
        <p:nvSpPr>
          <p:cNvPr name="AutoShape 3" id="3"/>
          <p:cNvSpPr/>
          <p:nvPr>
            <p:ph idx="3" type="body" sz="quarter" hasCustomPrompt="true"/>
          </p:nvPr>
        </p:nvSpPr>
        <p:spPr>
          <a:xfrm rot="0" flipH="false" flipV="false">
            <a:off x="5891743" y="845441"/>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01</a:t>
            </a:r>
          </a:p>
        </p:txBody>
      </p:sp>
      <p:sp>
        <p:nvSpPr>
          <p:cNvPr name="AutoShape 4" id="4"/>
          <p:cNvSpPr/>
          <p:nvPr>
            <p:ph idx="4" type="body" sz="quarter" hasCustomPrompt="true"/>
          </p:nvPr>
        </p:nvSpPr>
        <p:spPr>
          <a:xfrm rot="0" flipH="false" flipV="false">
            <a:off x="5891743" y="232892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a:t>
            </a:r>
            <a:r>
              <a:rPr lang="en-US" b="true" i="false" strike="noStrike" u="none" sz="3200">
                <a:solidFill>
                  <a:srgbClr val="1F2329"/>
                </a:solidFill>
                <a:latin typeface="Noto Sans SC"/>
                <a:ea typeface="Noto Sans SC"/>
                <a:cs typeface="Noto Sans SC"/>
                <a:sym typeface="Noto Sans SC"/>
              </a:rPr>
              <a:t>2</a:t>
            </a:r>
          </a:p>
        </p:txBody>
      </p:sp>
      <p:sp>
        <p:nvSpPr>
          <p:cNvPr name="AutoShape 5" id="5"/>
          <p:cNvSpPr/>
          <p:nvPr>
            <p:ph idx="5" type="body" sz="quarter" hasCustomPrompt="true"/>
          </p:nvPr>
        </p:nvSpPr>
        <p:spPr>
          <a:xfrm rot="0" flipH="false" flipV="false">
            <a:off x="5891743" y="3764257"/>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a:t>
            </a:r>
            <a:r>
              <a:rPr lang="en-US" b="true" i="false" strike="noStrike" u="none" sz="3200">
                <a:solidFill>
                  <a:srgbClr val="1F2329"/>
                </a:solidFill>
                <a:latin typeface="Noto Sans SC"/>
                <a:ea typeface="Noto Sans SC"/>
                <a:cs typeface="Noto Sans SC"/>
                <a:sym typeface="Noto Sans SC"/>
              </a:rPr>
              <a:t>3</a:t>
            </a:r>
          </a:p>
        </p:txBody>
      </p:sp>
      <p:sp>
        <p:nvSpPr>
          <p:cNvPr name="AutoShape 6" id="6"/>
          <p:cNvSpPr/>
          <p:nvPr>
            <p:ph idx="6" type="body" sz="quarter" hasCustomPrompt="true"/>
          </p:nvPr>
        </p:nvSpPr>
        <p:spPr>
          <a:xfrm rot="0" flipH="false" flipV="false">
            <a:off x="5891743" y="522090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a:t>
            </a:r>
            <a:r>
              <a:rPr lang="en-US" b="true" i="false" strike="noStrike" u="none" sz="3200">
                <a:solidFill>
                  <a:srgbClr val="1F2329"/>
                </a:solidFill>
                <a:latin typeface="Noto Sans SC"/>
                <a:ea typeface="Noto Sans SC"/>
                <a:cs typeface="Noto Sans SC"/>
                <a:sym typeface="Noto Sans SC"/>
              </a:rPr>
              <a:t>4</a:t>
            </a:r>
          </a:p>
        </p:txBody>
      </p:sp>
      <p:sp>
        <p:nvSpPr>
          <p:cNvPr name="AutoShape 7" id="7"/>
          <p:cNvSpPr/>
          <p:nvPr>
            <p:ph idx="7" type="body" sz="quarter"/>
          </p:nvPr>
        </p:nvSpPr>
        <p:spPr>
          <a:xfrm rot="0" flipH="false" flipV="false">
            <a:off x="6788086" y="1240031"/>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8" type="body" sz="quarter"/>
          </p:nvPr>
        </p:nvSpPr>
        <p:spPr>
          <a:xfrm rot="0" flipH="false" flipV="false">
            <a:off x="6788086" y="2704466"/>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9" type="body" sz="quarter"/>
          </p:nvPr>
        </p:nvSpPr>
        <p:spPr>
          <a:xfrm rot="0" flipH="false" flipV="false">
            <a:off x="6788086" y="4139797"/>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10" type="body" sz="quarter"/>
          </p:nvPr>
        </p:nvSpPr>
        <p:spPr>
          <a:xfrm rot="0" flipH="false" flipV="false">
            <a:off x="6788086" y="5575129"/>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11" type="body" sz="quarter"/>
          </p:nvPr>
        </p:nvSpPr>
        <p:spPr>
          <a:xfrm rot="0" flipH="false" flipV="false">
            <a:off x="6788086" y="5150165"/>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2" id="12"/>
          <p:cNvSpPr/>
          <p:nvPr>
            <p:ph idx="12" type="body" sz="quarter"/>
          </p:nvPr>
        </p:nvSpPr>
        <p:spPr>
          <a:xfrm rot="0" flipH="false" flipV="false">
            <a:off x="6788086" y="796018"/>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3" id="13"/>
          <p:cNvSpPr/>
          <p:nvPr>
            <p:ph idx="13" type="body" sz="quarter"/>
          </p:nvPr>
        </p:nvSpPr>
        <p:spPr>
          <a:xfrm rot="0" flipH="false" flipV="false">
            <a:off x="6788086" y="2279503"/>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4" id="14"/>
          <p:cNvSpPr/>
          <p:nvPr>
            <p:ph idx="14" type="body" sz="quarter"/>
          </p:nvPr>
        </p:nvSpPr>
        <p:spPr>
          <a:xfrm rot="0" flipH="false" flipV="false">
            <a:off x="6788086" y="3714834"/>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cxnSp>
        <p:nvCxnSpPr>
          <p:cNvPr name="Connector 2" id="2"/>
          <p:cNvCxnSpPr/>
          <p:nvPr/>
        </p:nvCxnSpPr>
        <p:spPr>
          <a:xfrm rot="5399999" flipH="false" flipV="true">
            <a:off x="5672879" y="5482375"/>
            <a:ext cx="863600" cy="12700"/>
          </a:xfrm>
          <a:prstGeom prst="straightConnector1">
            <a:avLst/>
          </a:prstGeom>
          <a:solidFill>
            <a:srgbClr val="DEE0E3">
              <a:alpha val="100000"/>
            </a:srgbClr>
          </a:solidFill>
          <a:ln w="12700">
            <a:solidFill>
              <a:srgbClr val="DEE0E3">
                <a:alpha val="100000"/>
              </a:srgbClr>
            </a:solidFill>
            <a:prstDash val="solid"/>
            <a:headEnd type="none" w="med" len="med"/>
            <a:tailEnd type="none" w="med" len="med"/>
          </a:ln>
        </p:spPr>
      </p:cxnSp>
      <p:sp>
        <p:nvSpPr>
          <p:cNvPr name="AutoShape 3" id="3"/>
          <p:cNvSpPr/>
          <p:nvPr>
            <p:ph idx="15" type="body" sz="quarter"/>
          </p:nvPr>
        </p:nvSpPr>
        <p:spPr>
          <a:xfrm rot="0" flipH="false" flipV="false">
            <a:off x="6316558" y="4904525"/>
            <a:ext cx="5125239"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16" type="body" sz="quarter"/>
          </p:nvPr>
        </p:nvSpPr>
        <p:spPr>
          <a:xfrm rot="0" flipH="false" flipV="false">
            <a:off x="635000" y="4853725"/>
            <a:ext cx="52578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17" type="pic" sz="quarter"/>
          </p:nvPr>
        </p:nvSpPr>
        <p:spPr>
          <a:xfrm rot="0" flipH="false" flipV="false">
            <a:off x="762000" y="762000"/>
            <a:ext cx="10668000" cy="3708400"/>
          </a:xfrm>
          <a:prstGeom prst="roundRect">
            <a:avLst>
              <a:gd name="adj" fmla="val 3424"/>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8" type="body" sz="quarter"/>
          </p:nvPr>
        </p:nvSpPr>
        <p:spPr>
          <a:xfrm rot="0" flipH="false" flipV="false">
            <a:off x="638697"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19" type="body" sz="quarter"/>
          </p:nvPr>
        </p:nvSpPr>
        <p:spPr>
          <a:xfrm rot="0" flipH="false" flipV="false">
            <a:off x="635000" y="787400"/>
            <a:ext cx="5256743" cy="5715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4" id="4"/>
          <p:cNvSpPr/>
          <p:nvPr>
            <p:ph idx="20" type="pic" sz="quarter"/>
          </p:nvPr>
        </p:nvSpPr>
        <p:spPr>
          <a:xfrm rot="0" flipH="false" flipV="false">
            <a:off x="6096000" y="749300"/>
            <a:ext cx="5334000" cy="5359400"/>
          </a:xfrm>
          <a:prstGeom prst="roundRect">
            <a:avLst>
              <a:gd name="adj" fmla="val 238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1" type="body" sz="quarter"/>
          </p:nvPr>
        </p:nvSpPr>
        <p:spPr>
          <a:xfrm rot="0" flipH="false" flipV="false">
            <a:off x="6350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22" type="body" sz="quarter"/>
          </p:nvPr>
        </p:nvSpPr>
        <p:spPr>
          <a:xfrm rot="0" flipH="false" flipV="false">
            <a:off x="61722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23" type="body" sz="quarter"/>
          </p:nvPr>
        </p:nvSpPr>
        <p:spPr>
          <a:xfrm rot="0" flipH="false" flipV="false">
            <a:off x="635000" y="749300"/>
            <a:ext cx="10919218"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24" type="pic" sz="quarter"/>
          </p:nvPr>
        </p:nvSpPr>
        <p:spPr>
          <a:xfrm rot="0" flipH="false" flipV="false">
            <a:off x="7620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25" type="pic" sz="quarter"/>
          </p:nvPr>
        </p:nvSpPr>
        <p:spPr>
          <a:xfrm rot="0" flipH="false" flipV="false">
            <a:off x="62992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6" type="body" sz="quarter"/>
          </p:nvPr>
        </p:nvSpPr>
        <p:spPr>
          <a:xfrm rot="0" flipH="false" flipV="false">
            <a:off x="635000" y="2781300"/>
            <a:ext cx="3835400" cy="1244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27" type="body" sz="quarter"/>
          </p:nvPr>
        </p:nvSpPr>
        <p:spPr>
          <a:xfrm rot="0" flipH="false" flipV="false">
            <a:off x="9336835"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28" type="body" sz="quarter"/>
          </p:nvPr>
        </p:nvSpPr>
        <p:spPr>
          <a:xfrm rot="0" flipH="false" flipV="false">
            <a:off x="7012027"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5" id="5"/>
          <p:cNvSpPr/>
          <p:nvPr>
            <p:ph idx="29" type="body" sz="quarter"/>
          </p:nvPr>
        </p:nvSpPr>
        <p:spPr>
          <a:xfrm rot="0" flipH="false" flipV="false">
            <a:off x="4674519"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6" id="6"/>
          <p:cNvSpPr/>
          <p:nvPr>
            <p:ph idx="30" type="pic" sz="quarter"/>
          </p:nvPr>
        </p:nvSpPr>
        <p:spPr>
          <a:xfrm rot="0" flipH="false" flipV="false">
            <a:off x="48260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31" type="pic" sz="quarter"/>
          </p:nvPr>
        </p:nvSpPr>
        <p:spPr>
          <a:xfrm rot="0" flipH="false" flipV="false">
            <a:off x="71628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32" type="pic" sz="quarter"/>
          </p:nvPr>
        </p:nvSpPr>
        <p:spPr>
          <a:xfrm rot="0" flipH="false" flipV="false">
            <a:off x="94869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33" type="body" sz="quarter"/>
          </p:nvPr>
        </p:nvSpPr>
        <p:spPr>
          <a:xfrm rot="0" flipH="false" flipV="false">
            <a:off x="638697" y="749300"/>
            <a:ext cx="109220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34" type="pic" sz="quarter"/>
          </p:nvPr>
        </p:nvSpPr>
        <p:spPr>
          <a:xfrm rot="0" flipH="false" flipV="false">
            <a:off x="7620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35" type="pic" sz="quarter"/>
          </p:nvPr>
        </p:nvSpPr>
        <p:spPr>
          <a:xfrm rot="0" flipH="false" flipV="false">
            <a:off x="62484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36" type="pic" sz="quarter"/>
          </p:nvPr>
        </p:nvSpPr>
        <p:spPr>
          <a:xfrm rot="0" flipH="false" flipV="false">
            <a:off x="7620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37" type="pic" sz="quarter"/>
          </p:nvPr>
        </p:nvSpPr>
        <p:spPr>
          <a:xfrm rot="0" flipH="false" flipV="false">
            <a:off x="62484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38" type="body" sz="quarter"/>
          </p:nvPr>
        </p:nvSpPr>
        <p:spPr>
          <a:xfrm rot="0" flipH="false" flipV="false">
            <a:off x="2331321" y="2750532"/>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39" type="body" sz="quarter"/>
          </p:nvPr>
        </p:nvSpPr>
        <p:spPr>
          <a:xfrm rot="0" flipH="false" flipV="false">
            <a:off x="7823200" y="2781138"/>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40" type="body" sz="quarter"/>
          </p:nvPr>
        </p:nvSpPr>
        <p:spPr>
          <a:xfrm rot="0" flipH="false" flipV="false">
            <a:off x="2331321"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41" type="body" sz="quarter"/>
          </p:nvPr>
        </p:nvSpPr>
        <p:spPr>
          <a:xfrm rot="0" flipH="false" flipV="false">
            <a:off x="7823200"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42" type="body" sz="quarter"/>
          </p:nvPr>
        </p:nvSpPr>
        <p:spPr>
          <a:xfrm rot="0" flipH="false" flipV="false">
            <a:off x="2331321"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2" id="12"/>
          <p:cNvSpPr/>
          <p:nvPr>
            <p:ph idx="43" type="body" sz="quarter"/>
          </p:nvPr>
        </p:nvSpPr>
        <p:spPr>
          <a:xfrm rot="0" flipH="false" flipV="false">
            <a:off x="7823200"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3" id="13"/>
          <p:cNvSpPr/>
          <p:nvPr>
            <p:ph idx="44" type="body" sz="quarter"/>
          </p:nvPr>
        </p:nvSpPr>
        <p:spPr>
          <a:xfrm rot="0" flipH="false" flipV="false">
            <a:off x="2331321"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4" id="14"/>
          <p:cNvSpPr/>
          <p:nvPr>
            <p:ph idx="45" type="body" sz="quarter"/>
          </p:nvPr>
        </p:nvSpPr>
        <p:spPr>
          <a:xfrm rot="0" flipH="false" flipV="false">
            <a:off x="7823200"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46" type="body" sz="quarter"/>
          </p:nvPr>
        </p:nvSpPr>
        <p:spPr>
          <a:xfrm rot="0" flipH="false" flipV="false">
            <a:off x="1161058" y="748860"/>
            <a:ext cx="9867900" cy="635000"/>
          </a:xfrm>
          <a:prstGeom prst="rect">
            <a:avLst/>
          </a:prstGeom>
          <a:noFill/>
          <a:ln w="25400">
            <a:noFill/>
            <a:prstDash val="solid"/>
          </a:ln>
          <a:effectLst/>
        </p:spPr>
        <p:txBody>
          <a:bodyPr anchor="t" wrap="square" lIns="0" rIns="0" tIns="0" bIns="0">
            <a:spAutoFit/>
          </a:bodyPr>
          <a:lstStyle>
            <a:lvl1pPr algn="ctr">
              <a:lnSpc>
                <a:spcPct val="125000"/>
              </a:lnSpc>
              <a:defRPr sz="3200" b="true" i="false" u="none" strike="noStrike" spc="0">
                <a:solidFill>
                  <a:srgbClr val="1F2329">
                    <a:alpha val="100000"/>
                  </a:srgbClr>
                </a:solidFill>
                <a:latin typeface="Noto Sans SC"/>
              </a:defRPr>
            </a:lvl1pPr>
          </a:lstStyle>
          <a:p>
            <a:pPr algn="ctr"/>
            <a:endParaRPr/>
          </a:p>
        </p:txBody>
      </p:sp>
      <p:sp>
        <p:nvSpPr>
          <p:cNvPr name="AutoShape 3" id="3"/>
          <p:cNvSpPr/>
          <p:nvPr>
            <p:ph idx="47" type="pic" sz="quarter"/>
          </p:nvPr>
        </p:nvSpPr>
        <p:spPr>
          <a:xfrm rot="0" flipH="false" flipV="false">
            <a:off x="14478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48" type="pic" sz="quarter"/>
          </p:nvPr>
        </p:nvSpPr>
        <p:spPr>
          <a:xfrm rot="0" flipH="false" flipV="false">
            <a:off x="54610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49" type="pic" sz="quarter"/>
          </p:nvPr>
        </p:nvSpPr>
        <p:spPr>
          <a:xfrm rot="0" flipH="false" flipV="false">
            <a:off x="94742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50" type="pic" sz="quarter"/>
          </p:nvPr>
        </p:nvSpPr>
        <p:spPr>
          <a:xfrm rot="0" flipH="false" flipV="false">
            <a:off x="14478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51" type="pic" sz="quarter"/>
          </p:nvPr>
        </p:nvSpPr>
        <p:spPr>
          <a:xfrm rot="0" flipH="false" flipV="false">
            <a:off x="94742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52" type="pic" sz="quarter"/>
          </p:nvPr>
        </p:nvSpPr>
        <p:spPr>
          <a:xfrm rot="0" flipH="false" flipV="false">
            <a:off x="54610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9" id="9"/>
          <p:cNvSpPr/>
          <p:nvPr>
            <p:ph idx="53" type="body" sz="quarter"/>
          </p:nvPr>
        </p:nvSpPr>
        <p:spPr>
          <a:xfrm rot="0" flipH="false" flipV="false">
            <a:off x="7620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0" id="10"/>
          <p:cNvSpPr/>
          <p:nvPr>
            <p:ph idx="54" type="body" sz="quarter"/>
          </p:nvPr>
        </p:nvSpPr>
        <p:spPr>
          <a:xfrm rot="0" flipH="false" flipV="false">
            <a:off x="47752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1" id="11"/>
          <p:cNvSpPr/>
          <p:nvPr>
            <p:ph idx="55" type="body" sz="quarter"/>
          </p:nvPr>
        </p:nvSpPr>
        <p:spPr>
          <a:xfrm rot="0" flipH="false" flipV="false">
            <a:off x="87884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2" id="12"/>
          <p:cNvSpPr/>
          <p:nvPr>
            <p:ph idx="56" type="body" sz="quarter"/>
          </p:nvPr>
        </p:nvSpPr>
        <p:spPr>
          <a:xfrm rot="0" flipH="false" flipV="false">
            <a:off x="7620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3" id="13"/>
          <p:cNvSpPr/>
          <p:nvPr>
            <p:ph idx="57" type="body" sz="quarter"/>
          </p:nvPr>
        </p:nvSpPr>
        <p:spPr>
          <a:xfrm rot="0" flipH="false" flipV="false">
            <a:off x="47752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4" id="14"/>
          <p:cNvSpPr/>
          <p:nvPr>
            <p:ph idx="58" type="body" sz="quarter"/>
          </p:nvPr>
        </p:nvSpPr>
        <p:spPr>
          <a:xfrm rot="0" flipH="false" flipV="false">
            <a:off x="8788400" y="54972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59" type="body" sz="quarter"/>
          </p:nvPr>
        </p:nvSpPr>
        <p:spPr>
          <a:xfrm rot="0" flipH="false" flipV="false">
            <a:off x="1168400" y="274574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
        <p:nvSpPr>
          <p:cNvPr name="AutoShape 3" id="3"/>
          <p:cNvSpPr/>
          <p:nvPr>
            <p:ph idx="60" type="body" sz="quarter"/>
          </p:nvPr>
        </p:nvSpPr>
        <p:spPr>
          <a:xfrm rot="0" flipH="false" flipV="false">
            <a:off x="1168400" y="2080158"/>
            <a:ext cx="9880600" cy="317500"/>
          </a:xfrm>
          <a:prstGeom prst="rect">
            <a:avLst/>
          </a:prstGeom>
          <a:noFill/>
          <a:ln w="25400">
            <a:noFill/>
            <a:prstDash val="solid"/>
          </a:ln>
          <a:effectLst/>
        </p:spPr>
        <p:txBody>
          <a:bodyPr anchor="t" wrap="square" lIns="0" rIns="0" tIns="0" bIns="0">
            <a:spAutoFit/>
          </a:bodyPr>
          <a:lstStyle>
            <a:lvl1pPr algn="ctr">
              <a:lnSpc>
                <a:spcPct val="125000"/>
              </a:lnSpc>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20.xml" Type="http://schemas.openxmlformats.org/officeDocument/2006/relationships/slideLayout"/><Relationship Id="rId11" Target="../slideLayouts/slideLayout21.xml" Type="http://schemas.openxmlformats.org/officeDocument/2006/relationships/slideLayout"/><Relationship Id="rId2" Target="../slideLayouts/slideLayout12.xml" Type="http://schemas.openxmlformats.org/officeDocument/2006/relationships/slideLayout"/><Relationship Id="rId3" Target="../slideLayouts/slideLayout13.xml" Type="http://schemas.openxmlformats.org/officeDocument/2006/relationships/slideLayout"/><Relationship Id="rId4" Target="../slideLayouts/slideLayout14.xml" Type="http://schemas.openxmlformats.org/officeDocument/2006/relationships/slideLayout"/><Relationship Id="rId5" Target="../slideLayouts/slideLayout15.xml" Type="http://schemas.openxmlformats.org/officeDocument/2006/relationships/slideLayout"/><Relationship Id="rId6" Target="../slideLayouts/slideLayout16.xml" Type="http://schemas.openxmlformats.org/officeDocument/2006/relationships/slideLayout"/><Relationship Id="rId7" Target="../slideLayouts/slideLayout17.xml" Type="http://schemas.openxmlformats.org/officeDocument/2006/relationships/slideLayout"/><Relationship Id="rId8" Target="../slideLayouts/slideLayout18.xml" Type="http://schemas.openxmlformats.org/officeDocument/2006/relationships/slideLayout"/><Relationship Id="rId9" Target="../slideLayouts/slideLayout1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 id="2157483700" r:id="rId3"/>
    <p:sldLayoutId id="2157483701" r:id="rId4"/>
    <p:sldLayoutId id="2157483702" r:id="rId5"/>
    <p:sldLayoutId id="2157483703" r:id="rId6"/>
    <p:sldLayoutId id="2157483704" r:id="rId7"/>
    <p:sldLayoutId id="2157483705" r:id="rId8"/>
    <p:sldLayoutId id="2157483706" r:id="rId9"/>
    <p:sldLayoutId id="2157483707" r:id="rId10"/>
    <p:sldLayoutId id="215748370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 Id="rId8" Target="../media/image11.png" Type="http://schemas.openxmlformats.org/officeDocument/2006/relationships/image"/><Relationship Id="rId9"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2.pn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notesSlides/notesSlide9.xml" Type="http://schemas.openxmlformats.org/officeDocument/2006/relationships/notesSlid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flipH="false" flipV="false">
            <a:off x="4381500" y="2498706"/>
            <a:ext cx="3429000" cy="1028700"/>
          </a:xfrm>
          <a:prstGeom prst="rect">
            <a:avLst/>
          </a:prstGeom>
          <a:noFill/>
          <a:ln w="12700">
            <a:noFill/>
            <a:prstDash val="solid"/>
          </a:ln>
        </p:spPr>
        <p:txBody>
          <a:bodyPr anchor="t" rtlCol="false" wrap="none" lIns="0" rIns="0" tIns="0" bIns="0"/>
          <a:lstStyle/>
          <a:p>
            <a:pPr algn="l" indent="0">
              <a:lnSpc>
                <a:spcPct val="125000"/>
              </a:lnSpc>
              <a:defRPr/>
            </a:pPr>
            <a:r>
              <a:rPr lang="en-US" b="true" i="false" strike="noStrike" u="none" sz="5400">
                <a:solidFill>
                  <a:srgbClr val="000000"/>
                </a:solidFill>
                <a:latin typeface="Noto Sans SC"/>
                <a:ea typeface="Noto Sans SC"/>
                <a:cs typeface="Noto Sans SC"/>
                <a:sym typeface="Noto Sans SC"/>
              </a:rPr>
              <a:t>贝尔曼方程</a:t>
            </a:r>
            <a:endParaRPr lang="en-US" sz="1100"/>
          </a:p>
        </p:txBody>
      </p:sp>
      <p:sp>
        <p:nvSpPr>
          <p:cNvPr name="AutoShape 3" id="3"/>
          <p:cNvSpPr/>
          <p:nvPr/>
        </p:nvSpPr>
        <p:spPr>
          <a:xfrm rot="0" flipH="false" flipV="false">
            <a:off x="6794500" y="3615115"/>
            <a:ext cx="1016000" cy="304800"/>
          </a:xfrm>
          <a:prstGeom prst="rect">
            <a:avLst/>
          </a:prstGeom>
          <a:noFill/>
          <a:ln w="12700">
            <a:noFill/>
            <a:prstDash val="solid"/>
          </a:ln>
        </p:spPr>
        <p:txBody>
          <a:bodyPr anchor="t" rtlCol="false" wrap="none" lIns="0" rIns="0" tIns="0" bIns="0"/>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2025.12.07</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909975" y="2019300"/>
          <a:ext cx="35743822" cy="13130064"/>
        </p:xfrm>
        <a:graphic>
          <a:graphicData uri="http://schemas.openxmlformats.org/drawingml/2006/table">
            <a:tbl>
              <a:tblPr>
                <a:effectLst/>
              </a:tblPr>
              <a:tblGrid>
                <a:gridCol w="4996705"/>
                <a:gridCol w="4996705"/>
              </a:tblGrid>
              <a:tr h="1434087">
                <a:tc>
                  <a:txBody>
                    <a:bodyPr anchor="t" rtlCol="false"/>
                    <a:lstStyle/>
                    <a:p>
                      <a:pPr algn="ctr" indent="-203200" marL="203200">
                        <a:lnSpc>
                          <a:spcPct val="100000"/>
                        </a:lnSpc>
                        <a:buClr>
                          <a:srgbClr val="1F2329"/>
                        </a:buClr>
                        <a:buFont typeface="+mj-lt"/>
                        <a:buAutoNum type="arabicPeriod" startAt="1"/>
                        <a:defRPr/>
                      </a:pPr>
                      <a:r>
                        <a:rPr lang="en-US" b="false" i="false" strike="noStrike" u="none" sz="1600">
                          <a:solidFill>
                            <a:srgbClr val="1F2329"/>
                          </a:solidFill>
                          <a:latin typeface="Noto Sans SC"/>
                          <a:ea typeface="Noto Sans SC"/>
                          <a:cs typeface="Noto Sans SC"/>
                          <a:sym typeface="Noto Sans SC"/>
                        </a:rPr>
                        <a:t>什么是强化学习</a:t>
                      </a:r>
                      <a:endParaRPr lang="en-US" sz="1100"/>
                    </a:p>
                  </a:txBody>
                  <a:tcPr anchor="ctr" marL="101600" marR="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a:defRPr/>
                      </a:pPr>
                      <a:endParaRPr/>
                    </a:p>
                  </a:txBody>
                  <a:tcPr anchor="ctr" marL="101600" marR="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1434087">
                <a:tc>
                  <a:txBody>
                    <a:bodyPr anchor="t" rtlCol="false"/>
                    <a:lstStyle/>
                    <a:p>
                      <a:pPr algn="ctr" indent="-203200" marL="203200">
                        <a:lnSpc>
                          <a:spcPct val="100000"/>
                        </a:lnSpc>
                        <a:buClr>
                          <a:srgbClr val="1F2329"/>
                        </a:buClr>
                        <a:buFont typeface="+mj-lt"/>
                        <a:buAutoNum type="arabicPeriod" startAt="1"/>
                        <a:defRPr/>
                      </a:pPr>
                      <a:r>
                        <a:rPr lang="en-US" b="false" i="false" strike="noStrike" u="none" sz="1600">
                          <a:solidFill>
                            <a:srgbClr val="1F2329"/>
                          </a:solidFill>
                          <a:latin typeface="Noto Sans SC"/>
                          <a:ea typeface="Noto Sans SC"/>
                          <a:cs typeface="Noto Sans SC"/>
                          <a:sym typeface="Noto Sans SC"/>
                        </a:rPr>
                        <a:t>强化学习的目标</a:t>
                      </a:r>
                      <a:endParaRPr lang="en-US" sz="1100"/>
                    </a:p>
                  </a:txBody>
                  <a:tcPr anchor="ctr" marL="101600" marR="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a:defRPr/>
                      </a:pPr>
                      <a:endParaRPr/>
                    </a:p>
                  </a:txBody>
                  <a:tcPr anchor="ctr" marL="101600" marR="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1434087">
                <a:tc>
                  <a:txBody>
                    <a:bodyPr anchor="t" rtlCol="false"/>
                    <a:lstStyle/>
                    <a:p>
                      <a:pPr algn="ctr" indent="-203200" marL="203200">
                        <a:lnSpc>
                          <a:spcPct val="100000"/>
                        </a:lnSpc>
                        <a:buClr>
                          <a:srgbClr val="1F2329"/>
                        </a:buClr>
                        <a:buFont typeface="+mj-lt"/>
                        <a:buAutoNum type="arabicPeriod" startAt="1"/>
                        <a:defRPr/>
                      </a:pPr>
                      <a:r>
                        <a:rPr lang="en-US" b="false" i="false" strike="noStrike" u="none" sz="1600">
                          <a:solidFill>
                            <a:srgbClr val="1F2329"/>
                          </a:solidFill>
                          <a:latin typeface="Noto Sans SC"/>
                          <a:ea typeface="Noto Sans SC"/>
                          <a:cs typeface="Noto Sans SC"/>
                          <a:sym typeface="Noto Sans SC"/>
                        </a:rPr>
                        <a:t>强化学习与监督学习</a:t>
                      </a:r>
                      <a:endParaRPr lang="en-US" sz="1100"/>
                    </a:p>
                  </a:txBody>
                  <a:tcPr anchor="ctr" marL="101600" marR="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a:defRPr/>
                      </a:pPr>
                      <a:endParaRPr/>
                    </a:p>
                  </a:txBody>
                  <a:tcPr anchor="ctr" marL="101600" marR="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bl>
          </a:graphicData>
        </a:graphic>
      </p:graphicFrame>
      <p:sp>
        <p:nvSpPr>
          <p:cNvPr name="AutoShape 3" id="3"/>
          <p:cNvSpPr/>
          <p:nvPr/>
        </p:nvSpPr>
        <p:spPr>
          <a:xfrm rot="0" flipH="false" flipV="false">
            <a:off x="1092516" y="827475"/>
            <a:ext cx="1460500" cy="723900"/>
          </a:xfrm>
          <a:prstGeom prst="rect">
            <a:avLst/>
          </a:prstGeom>
          <a:noFill/>
          <a:ln w="12700">
            <a:noFill/>
            <a:prstDash val="solid"/>
          </a:ln>
        </p:spPr>
        <p:txBody>
          <a:bodyPr anchor="t" rtlCol="false" wrap="none" lIns="0" rIns="0" tIns="0" bIns="0"/>
          <a:lstStyle/>
          <a:p>
            <a:pPr algn="l" indent="0">
              <a:lnSpc>
                <a:spcPct val="125000"/>
              </a:lnSpc>
              <a:defRPr/>
            </a:pPr>
            <a:r>
              <a:rPr lang="en-US" b="true" i="false" strike="noStrike" u="none" sz="3800">
                <a:solidFill>
                  <a:srgbClr val="1F2329"/>
                </a:solidFill>
                <a:latin typeface="Noto Sans SC"/>
                <a:ea typeface="Noto Sans SC"/>
                <a:cs typeface="Noto Sans SC"/>
                <a:sym typeface="Noto Sans SC"/>
              </a:rPr>
              <a:t>回顾：</a:t>
            </a:r>
            <a:endParaRPr lang="en-US" sz="1100"/>
          </a:p>
        </p:txBody>
      </p:sp>
      <p:pic>
        <p:nvPicPr>
          <p:cNvPr name="Picture 4" id="4"/>
          <p:cNvPicPr>
            <a:picLocks noChangeAspect="true"/>
          </p:cNvPicPr>
          <p:nvPr/>
        </p:nvPicPr>
        <p:blipFill>
          <a:blip r:embed="rId2"/>
          <a:stretch>
            <a:fillRect/>
          </a:stretch>
        </p:blipFill>
        <p:spPr>
          <a:xfrm rot="0" flipH="false" flipV="false">
            <a:off x="5936482" y="5153619"/>
            <a:ext cx="4966903" cy="405285"/>
          </a:xfrm>
          <a:prstGeom prst="rect">
            <a:avLst/>
          </a:prstGeom>
          <a:ln w="12700">
            <a:noFill/>
            <a:prstDash val="solid"/>
          </a:ln>
        </p:spPr>
      </p:pic>
      <p:pic>
        <p:nvPicPr>
          <p:cNvPr name="Picture 5" id="5"/>
          <p:cNvPicPr>
            <a:picLocks noChangeAspect="true"/>
          </p:cNvPicPr>
          <p:nvPr/>
        </p:nvPicPr>
        <p:blipFill>
          <a:blip r:embed="rId3"/>
          <a:stretch>
            <a:fillRect/>
          </a:stretch>
        </p:blipFill>
        <p:spPr>
          <a:xfrm rot="0" flipH="false" flipV="false">
            <a:off x="5936482" y="5780787"/>
            <a:ext cx="4966903" cy="351787"/>
          </a:xfrm>
          <a:prstGeom prst="rect">
            <a:avLst/>
          </a:prstGeom>
          <a:ln w="12700">
            <a:noFill/>
            <a:prstDash val="solid"/>
          </a:ln>
        </p:spPr>
      </p:pic>
      <p:pic>
        <p:nvPicPr>
          <p:cNvPr name="Picture 6" id="6"/>
          <p:cNvPicPr>
            <a:picLocks noChangeAspect="true"/>
          </p:cNvPicPr>
          <p:nvPr/>
        </p:nvPicPr>
        <p:blipFill>
          <a:blip r:embed="rId4"/>
          <a:stretch>
            <a:fillRect/>
          </a:stretch>
        </p:blipFill>
        <p:spPr>
          <a:xfrm rot="0" flipH="false" flipV="false">
            <a:off x="6549474" y="2083604"/>
            <a:ext cx="3596106" cy="1345396"/>
          </a:xfrm>
          <a:prstGeom prst="rect">
            <a:avLst/>
          </a:prstGeom>
          <a:ln w="12700">
            <a:noFill/>
            <a:prstDash val="solid"/>
          </a:ln>
        </p:spPr>
      </p:pic>
      <p:pic>
        <p:nvPicPr>
          <p:cNvPr name="Picture 7" id="7"/>
          <p:cNvPicPr>
            <a:picLocks noChangeAspect="true"/>
          </p:cNvPicPr>
          <p:nvPr/>
        </p:nvPicPr>
        <p:blipFill>
          <a:blip r:embed="rId5"/>
          <a:stretch>
            <a:fillRect/>
          </a:stretch>
        </p:blipFill>
        <p:spPr>
          <a:xfrm rot="0" flipH="false" flipV="false">
            <a:off x="6665726" y="3783174"/>
            <a:ext cx="3363602" cy="774514"/>
          </a:xfrm>
          <a:prstGeom prst="rect">
            <a:avLst/>
          </a:prstGeom>
          <a:ln w="12700">
            <a:noFill/>
            <a:prstDash val="solid"/>
          </a:ln>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313542" y="346547"/>
            <a:ext cx="4686300" cy="304800"/>
          </a:xfrm>
          <a:prstGeom prst="rect">
            <a:avLst/>
          </a:prstGeom>
          <a:noFill/>
          <a:ln w="12700">
            <a:noFill/>
            <a:prstDash val="solid"/>
          </a:ln>
        </p:spPr>
        <p:txBody>
          <a:bodyPr anchor="t" rtlCol="false" wrap="none" lIns="0" rIns="0" tIns="0" bIns="0"/>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我们从数据层面谈谈有监督学习和强化学习的区别。</a:t>
            </a:r>
            <a:endParaRPr lang="en-US" sz="1100"/>
          </a:p>
        </p:txBody>
      </p:sp>
      <p:sp>
        <p:nvSpPr>
          <p:cNvPr name="AutoShape 3" id="3"/>
          <p:cNvSpPr/>
          <p:nvPr/>
        </p:nvSpPr>
        <p:spPr>
          <a:xfrm rot="0" flipH="false" flipV="false">
            <a:off x="313542" y="867440"/>
            <a:ext cx="11732793" cy="609600"/>
          </a:xfrm>
          <a:prstGeom prst="rect">
            <a:avLst/>
          </a:prstGeom>
          <a:noFill/>
          <a:ln w="12700">
            <a:noFill/>
            <a:prstDash val="solid"/>
          </a:ln>
        </p:spPr>
        <p:txBody>
          <a:bodyPr anchor="t" rtlCol="false" wrap="square" lIns="0" rIns="0" tIns="0" bIns="0"/>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有监督学习的任务建立在从给定的数据分布中采样得到的训练数据集上，通过优化在训练数据集中设定的目标函数（如最小化预测误差）来找到模型的最优参数。这里，训练数据集背后的数据分布是完全不变的。</a:t>
            </a:r>
            <a:endParaRPr lang="en-US" sz="1100"/>
          </a:p>
        </p:txBody>
      </p:sp>
      <p:sp>
        <p:nvSpPr>
          <p:cNvPr name="AutoShape 4" id="4"/>
          <p:cNvSpPr/>
          <p:nvPr/>
        </p:nvSpPr>
        <p:spPr>
          <a:xfrm rot="0" flipH="false" flipV="false">
            <a:off x="313542" y="1693133"/>
            <a:ext cx="11569700" cy="914400"/>
          </a:xfrm>
          <a:prstGeom prst="rect">
            <a:avLst/>
          </a:prstGeom>
          <a:noFill/>
          <a:ln w="12700">
            <a:noFill/>
            <a:prstDash val="solid"/>
          </a:ln>
        </p:spPr>
        <p:txBody>
          <a:bodyPr anchor="t" rtlCol="false" wrap="square" lIns="0" rIns="0" tIns="0" bIns="0"/>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在强化学习中，数据是在智能体与环境交互的过程中得到的。如果智能体不采取某个决策动作，那么该动作对应的数据就永远无法被观测到，所以当前智能体的训练数据来自之前智能体的决策结果。因此，智能体的策略不同，与环境交互所产生的数据分布就不同，</a:t>
            </a:r>
            <a:endParaRPr lang="en-US" sz="1100"/>
          </a:p>
        </p:txBody>
      </p:sp>
      <p:sp>
        <p:nvSpPr>
          <p:cNvPr name="AutoShape 5" id="5"/>
          <p:cNvSpPr/>
          <p:nvPr/>
        </p:nvSpPr>
        <p:spPr>
          <a:xfrm rot="0" flipH="false" flipV="false">
            <a:off x="5334000" y="2667000"/>
            <a:ext cx="6731000" cy="1524000"/>
          </a:xfrm>
          <a:prstGeom prst="rect">
            <a:avLst/>
          </a:prstGeom>
          <a:noFill/>
          <a:ln w="12700">
            <a:noFill/>
            <a:prstDash val="solid"/>
          </a:ln>
        </p:spPr>
        <p:txBody>
          <a:bodyPr anchor="t" rtlCol="false" wrap="square" lIns="0" rIns="0" tIns="0" bIns="0"/>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对于一般的有监督学习任务，我们的目标是找到一个最优的模型函数，使其在训练数据集上最小化一个给定的损失函数。在训练数据独立同分布的假设下，这个优化目标表示最小化模型在整个数据分布上的泛化误差（generalization</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 error），用简要的公式可以概括为：</a:t>
            </a:r>
            <a:endParaRPr lang="en-US" sz="1100"/>
          </a:p>
        </p:txBody>
      </p:sp>
      <p:sp>
        <p:nvSpPr>
          <p:cNvPr name="AutoShape 6" id="6"/>
          <p:cNvSpPr/>
          <p:nvPr/>
        </p:nvSpPr>
        <p:spPr>
          <a:xfrm rot="0" flipH="false" flipV="false">
            <a:off x="329334" y="3143250"/>
            <a:ext cx="11533333" cy="571500"/>
          </a:xfrm>
          <a:prstGeom prst="rect">
            <a:avLst/>
          </a:prstGeom>
          <a:noFill/>
          <a:ln w="12700">
            <a:noFill/>
            <a:prstDash val="solid"/>
          </a:ln>
        </p:spPr>
        <p:txBody>
          <a:bodyPr anchor="t" rtlCol="false" wrap="square" lIns="0" rIns="0" tIns="0" bIns="0"/>
          <a:lstStyle/>
          <a:p>
            <a:pPr algn="l" indent="0">
              <a:lnSpc>
                <a:spcPct val="125000"/>
              </a:lnSpc>
              <a:defRPr/>
            </a:pPr>
            <a:r>
              <a:rPr lang="en-US" b="false" i="false" strike="noStrike" u="none" sz="1500">
                <a:solidFill>
                  <a:srgbClr val="454D64"/>
                </a:solidFill>
                <a:highlight>
                  <a:srgbClr val="FFFFFF">
                    <a:alpha val="0"/>
                  </a:srgbClr>
                </a:highlight>
                <a:latin typeface="-apple-system, BlinkMacSystemFont, Segoe UI, PingFang SC, Hiragino Sans GB, Microsoft YaHei, Helvetica Neue, Helvetica, Arial, sans-serif, Apple Color Emoji, Segoe UI Emoji, Segoe UI Symbol"/>
                <a:ea typeface="-apple-system, BlinkMacSystemFont, Segoe UI, PingFang SC, Hiragino Sans GB, Microsoft YaHei, Helvetica Neue, Helvetica, Arial, sans-serif, Apple Color Emoji, Segoe UI Emoji, Segoe UI Symbol"/>
                <a:cs typeface="-apple-system, BlinkMacSystemFont, Segoe UI, PingFang SC, Hiragino Sans GB, Microsoft YaHei, Helvetica Neue, Helvetica, Arial, sans-serif, Apple Color Emoji, Segoe UI Emoji, Segoe UI Symbol"/>
                <a:sym typeface="-apple-system, BlinkMacSystemFont, Segoe UI, PingFang SC, Hiragino Sans GB, Microsoft YaHei, Helvetica Neue, Helvetica, Arial, sans-serif, Apple Color Emoji, Segoe UI Emoji, Segoe UI Symbol"/>
              </a:rPr>
              <a:t>对于一般的有监督学习任务，我们的目标是找到一个最优的模型函数，使其在训练数据集上最小化一个给定的损失函数。在训练数据独立同分布的假设下，这个优化目标表示最小化模型在整个数据分布上的泛化误差（generalization error），用简要的公式可以概括为：</a:t>
            </a:r>
            <a:endParaRPr lang="en-US" sz="1100"/>
          </a:p>
        </p:txBody>
      </p:sp>
      <p:pic>
        <p:nvPicPr>
          <p:cNvPr name="Picture 7" id="7"/>
          <p:cNvPicPr>
            <a:picLocks noChangeAspect="true"/>
          </p:cNvPicPr>
          <p:nvPr/>
        </p:nvPicPr>
        <p:blipFill>
          <a:blip r:embed="rId2"/>
          <a:stretch>
            <a:fillRect/>
          </a:stretch>
        </p:blipFill>
        <p:spPr>
          <a:xfrm rot="0" flipH="false" flipV="false">
            <a:off x="3612549" y="3930843"/>
            <a:ext cx="4966903" cy="405285"/>
          </a:xfrm>
          <a:prstGeom prst="rect">
            <a:avLst/>
          </a:prstGeom>
          <a:ln w="12700">
            <a:noFill/>
            <a:prstDash val="solid"/>
          </a:ln>
        </p:spPr>
      </p:pic>
      <p:sp>
        <p:nvSpPr>
          <p:cNvPr name="AutoShape 8" id="8"/>
          <p:cNvSpPr/>
          <p:nvPr/>
        </p:nvSpPr>
        <p:spPr>
          <a:xfrm rot="0" flipH="false" flipV="false">
            <a:off x="329334" y="4871845"/>
            <a:ext cx="11417300" cy="292100"/>
          </a:xfrm>
          <a:prstGeom prst="rect">
            <a:avLst/>
          </a:prstGeom>
          <a:noFill/>
          <a:ln w="12700">
            <a:noFill/>
            <a:prstDash val="solid"/>
          </a:ln>
        </p:spPr>
        <p:txBody>
          <a:bodyPr anchor="t" rtlCol="false" wrap="square" lIns="0" rIns="0" tIns="0" bIns="0"/>
          <a:lstStyle/>
          <a:p>
            <a:pPr algn="l" indent="0">
              <a:lnSpc>
                <a:spcPct val="125000"/>
              </a:lnSpc>
              <a:defRPr/>
            </a:pPr>
            <a:r>
              <a:rPr lang="en-US" b="false" i="false" strike="noStrike" u="none" sz="1500">
                <a:solidFill>
                  <a:srgbClr val="454D64"/>
                </a:solidFill>
                <a:highlight>
                  <a:srgbClr val="FFFFFF">
                    <a:alpha val="0"/>
                  </a:srgbClr>
                </a:highlight>
                <a:latin typeface="-apple-system, BlinkMacSystemFont, Segoe UI, PingFang SC, Hiragino Sans GB, Microsoft YaHei, Helvetica Neue, Helvetica, Arial, sans-serif, Apple Color Emoji, Segoe UI Emoji, Segoe UI Symbol"/>
                <a:ea typeface="-apple-system, BlinkMacSystemFont, Segoe UI, PingFang SC, Hiragino Sans GB, Microsoft YaHei, Helvetica Neue, Helvetica, Arial, sans-serif, Apple Color Emoji, Segoe UI Emoji, Segoe UI Symbol"/>
                <a:cs typeface="-apple-system, BlinkMacSystemFont, Segoe UI, PingFang SC, Hiragino Sans GB, Microsoft YaHei, Helvetica Neue, Helvetica, Arial, sans-serif, Apple Color Emoji, Segoe UI Emoji, Segoe UI Symbol"/>
                <a:sym typeface="-apple-system, BlinkMacSystemFont, Segoe UI, PingFang SC, Hiragino Sans GB, Microsoft YaHei, Helvetica Neue, Helvetica, Arial, sans-serif, Apple Color Emoji, Segoe UI Emoji, Segoe UI Symbol"/>
              </a:rPr>
              <a:t>相比之下，强化学习任务的最终优化目标是最大化智能体策略在和动态环境交互过程中的价值。</a:t>
            </a:r>
            <a:endParaRPr lang="en-US" sz="1100"/>
          </a:p>
        </p:txBody>
      </p:sp>
      <p:pic>
        <p:nvPicPr>
          <p:cNvPr name="Picture 9" id="9"/>
          <p:cNvPicPr>
            <a:picLocks noChangeAspect="true"/>
          </p:cNvPicPr>
          <p:nvPr/>
        </p:nvPicPr>
        <p:blipFill>
          <a:blip r:embed="rId3"/>
          <a:stretch>
            <a:fillRect/>
          </a:stretch>
        </p:blipFill>
        <p:spPr>
          <a:xfrm rot="0" flipH="false" flipV="false">
            <a:off x="3696487" y="5699662"/>
            <a:ext cx="4966903" cy="351787"/>
          </a:xfrm>
          <a:prstGeom prst="rect">
            <a:avLst/>
          </a:prstGeom>
          <a:ln w="12700">
            <a:noFill/>
            <a:prstDash val="solid"/>
          </a:ln>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179091" y="130565"/>
            <a:ext cx="4000943" cy="6096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3200">
                <a:solidFill>
                  <a:srgbClr val="1F2329"/>
                </a:solidFill>
                <a:latin typeface="Noto Sans SC"/>
                <a:ea typeface="Noto Sans SC"/>
                <a:cs typeface="Noto Sans SC"/>
                <a:sym typeface="Noto Sans SC"/>
              </a:rPr>
              <a:t>什么是策略(Policy)？</a:t>
            </a:r>
            <a:endParaRPr lang="en-US" sz="1100"/>
          </a:p>
        </p:txBody>
      </p:sp>
      <p:sp>
        <p:nvSpPr>
          <p:cNvPr name="AutoShape 3" id="3"/>
          <p:cNvSpPr/>
          <p:nvPr/>
        </p:nvSpPr>
        <p:spPr>
          <a:xfrm rot="0" flipH="false" flipV="false">
            <a:off x="179091" y="1023692"/>
            <a:ext cx="2451100" cy="609600"/>
          </a:xfrm>
          <a:prstGeom prst="rect">
            <a:avLst/>
          </a:prstGeom>
          <a:noFill/>
          <a:ln w="12700">
            <a:noFill/>
            <a:prstDash val="solid"/>
          </a:ln>
        </p:spPr>
        <p:txBody>
          <a:bodyPr anchor="t" rtlCol="false" wrap="none" lIns="0" rIns="0" tIns="0" bIns="0"/>
          <a:lstStyle/>
          <a:p>
            <a:pPr algn="l" indent="0">
              <a:lnSpc>
                <a:spcPct val="125000"/>
              </a:lnSpc>
              <a:defRPr/>
            </a:pPr>
            <a:r>
              <a:rPr lang="en-US" b="true" i="false" strike="noStrike" u="none" sz="3200">
                <a:solidFill>
                  <a:srgbClr val="1F2329"/>
                </a:solidFill>
                <a:latin typeface="Noto Sans SC"/>
                <a:ea typeface="Noto Sans SC"/>
                <a:cs typeface="Noto Sans SC"/>
                <a:sym typeface="Noto Sans SC"/>
              </a:rPr>
              <a:t>状态价值函数</a:t>
            </a:r>
            <a:endParaRPr lang="en-US" sz="1100"/>
          </a:p>
        </p:txBody>
      </p:sp>
      <p:sp>
        <p:nvSpPr>
          <p:cNvPr name="AutoShape 4" id="4"/>
          <p:cNvSpPr/>
          <p:nvPr/>
        </p:nvSpPr>
        <p:spPr>
          <a:xfrm rot="0" flipH="false" flipV="false">
            <a:off x="179091" y="3092450"/>
            <a:ext cx="2451100" cy="609600"/>
          </a:xfrm>
          <a:prstGeom prst="rect">
            <a:avLst/>
          </a:prstGeom>
          <a:noFill/>
          <a:ln w="12700">
            <a:noFill/>
            <a:prstDash val="solid"/>
          </a:ln>
        </p:spPr>
        <p:txBody>
          <a:bodyPr anchor="t" rtlCol="false" wrap="none" lIns="0" rIns="0" tIns="0" bIns="0"/>
          <a:lstStyle/>
          <a:p>
            <a:pPr algn="l" indent="0">
              <a:lnSpc>
                <a:spcPct val="125000"/>
              </a:lnSpc>
              <a:defRPr/>
            </a:pPr>
            <a:r>
              <a:rPr lang="en-US" b="true" i="false" strike="noStrike" u="none" sz="3200">
                <a:solidFill>
                  <a:srgbClr val="1F2329"/>
                </a:solidFill>
                <a:latin typeface="Noto Sans SC"/>
                <a:ea typeface="Noto Sans SC"/>
                <a:cs typeface="Noto Sans SC"/>
                <a:sym typeface="Noto Sans SC"/>
              </a:rPr>
              <a:t>动作价值函数</a:t>
            </a:r>
            <a:endParaRPr lang="en-US" sz="1100"/>
          </a:p>
        </p:txBody>
      </p:sp>
      <p:pic>
        <p:nvPicPr>
          <p:cNvPr name="Picture 5" id="5"/>
          <p:cNvPicPr>
            <a:picLocks noChangeAspect="true"/>
          </p:cNvPicPr>
          <p:nvPr/>
        </p:nvPicPr>
        <p:blipFill>
          <a:blip r:embed="rId2"/>
          <a:stretch>
            <a:fillRect/>
          </a:stretch>
        </p:blipFill>
        <p:spPr>
          <a:xfrm rot="0" flipH="false" flipV="false">
            <a:off x="3280093" y="1176092"/>
            <a:ext cx="2806700" cy="457200"/>
          </a:xfrm>
          <a:prstGeom prst="rect">
            <a:avLst/>
          </a:prstGeom>
          <a:ln w="12700">
            <a:noFill/>
            <a:prstDash val="solid"/>
          </a:ln>
        </p:spPr>
      </p:pic>
      <p:pic>
        <p:nvPicPr>
          <p:cNvPr name="Picture 6" id="6"/>
          <p:cNvPicPr>
            <a:picLocks noChangeAspect="true"/>
          </p:cNvPicPr>
          <p:nvPr/>
        </p:nvPicPr>
        <p:blipFill>
          <a:blip r:embed="rId3"/>
          <a:stretch>
            <a:fillRect/>
          </a:stretch>
        </p:blipFill>
        <p:spPr>
          <a:xfrm rot="0" flipH="false" flipV="false">
            <a:off x="3100607" y="3092450"/>
            <a:ext cx="4191000" cy="673100"/>
          </a:xfrm>
          <a:prstGeom prst="rect">
            <a:avLst/>
          </a:prstGeom>
          <a:ln w="12700">
            <a:noFill/>
            <a:prstDash val="solid"/>
          </a:ln>
        </p:spPr>
      </p:pic>
      <p:pic>
        <p:nvPicPr>
          <p:cNvPr name="Picture 7" id="7"/>
          <p:cNvPicPr>
            <a:picLocks noChangeAspect="true"/>
          </p:cNvPicPr>
          <p:nvPr/>
        </p:nvPicPr>
        <p:blipFill>
          <a:blip r:embed="rId4"/>
          <a:stretch>
            <a:fillRect/>
          </a:stretch>
        </p:blipFill>
        <p:spPr>
          <a:xfrm rot="0" flipH="false" flipV="false">
            <a:off x="4180034" y="225815"/>
            <a:ext cx="4140200" cy="419100"/>
          </a:xfrm>
          <a:prstGeom prst="rect">
            <a:avLst/>
          </a:prstGeom>
          <a:ln w="12700">
            <a:noFill/>
            <a:prstDash val="solid"/>
          </a:ln>
        </p:spPr>
      </p:pic>
      <p:sp>
        <p:nvSpPr>
          <p:cNvPr name="AutoShape 8" id="8"/>
          <p:cNvSpPr/>
          <p:nvPr/>
        </p:nvSpPr>
        <p:spPr>
          <a:xfrm rot="0" flipH="false" flipV="false">
            <a:off x="109462" y="5014309"/>
            <a:ext cx="1638300" cy="609600"/>
          </a:xfrm>
          <a:prstGeom prst="rect">
            <a:avLst/>
          </a:prstGeom>
          <a:noFill/>
          <a:ln w="12700">
            <a:noFill/>
            <a:prstDash val="solid"/>
          </a:ln>
        </p:spPr>
        <p:txBody>
          <a:bodyPr anchor="t" rtlCol="false" wrap="none" lIns="0" rIns="0" tIns="0" bIns="0"/>
          <a:lstStyle/>
          <a:p>
            <a:pPr algn="l" indent="0">
              <a:lnSpc>
                <a:spcPct val="125000"/>
              </a:lnSpc>
              <a:defRPr/>
            </a:pPr>
            <a:r>
              <a:rPr lang="en-US" b="true" i="false" strike="noStrike" u="none" sz="3200">
                <a:solidFill>
                  <a:srgbClr val="1F2329"/>
                </a:solidFill>
                <a:latin typeface="Noto Sans SC"/>
                <a:ea typeface="Noto Sans SC"/>
                <a:cs typeface="Noto Sans SC"/>
                <a:sym typeface="Noto Sans SC"/>
              </a:rPr>
              <a:t>二者关系</a:t>
            </a:r>
            <a:endParaRPr lang="en-US" sz="1100"/>
          </a:p>
        </p:txBody>
      </p:sp>
      <p:pic>
        <p:nvPicPr>
          <p:cNvPr name="Picture 9" id="9"/>
          <p:cNvPicPr>
            <a:picLocks noChangeAspect="true"/>
          </p:cNvPicPr>
          <p:nvPr/>
        </p:nvPicPr>
        <p:blipFill>
          <a:blip r:embed="rId5"/>
          <a:stretch>
            <a:fillRect/>
          </a:stretch>
        </p:blipFill>
        <p:spPr>
          <a:xfrm rot="0" flipH="false" flipV="false">
            <a:off x="2630191" y="5014309"/>
            <a:ext cx="3327400" cy="749300"/>
          </a:xfrm>
          <a:prstGeom prst="rect">
            <a:avLst/>
          </a:prstGeom>
          <a:ln w="12700">
            <a:noFill/>
            <a:prstDash val="solid"/>
          </a:ln>
        </p:spPr>
      </p:pic>
      <p:pic>
        <p:nvPicPr>
          <p:cNvPr name="Picture 10" id="10"/>
          <p:cNvPicPr>
            <a:picLocks noChangeAspect="true"/>
          </p:cNvPicPr>
          <p:nvPr/>
        </p:nvPicPr>
        <p:blipFill>
          <a:blip r:embed="rId6"/>
          <a:stretch>
            <a:fillRect/>
          </a:stretch>
        </p:blipFill>
        <p:spPr>
          <a:xfrm rot="0" flipH="false" flipV="false">
            <a:off x="2630191" y="5993089"/>
            <a:ext cx="4876800" cy="723900"/>
          </a:xfrm>
          <a:prstGeom prst="rect">
            <a:avLst/>
          </a:prstGeom>
          <a:ln w="12700">
            <a:noFill/>
            <a:prstDash val="solid"/>
          </a:ln>
        </p:spPr>
      </p:pic>
      <p:pic>
        <p:nvPicPr>
          <p:cNvPr name="Picture 11" id="11"/>
          <p:cNvPicPr>
            <a:picLocks noChangeAspect="true"/>
          </p:cNvPicPr>
          <p:nvPr/>
        </p:nvPicPr>
        <p:blipFill>
          <a:blip r:embed="rId7"/>
          <a:stretch>
            <a:fillRect/>
          </a:stretch>
        </p:blipFill>
        <p:spPr>
          <a:xfrm rot="0" flipH="false" flipV="false">
            <a:off x="109462" y="1862773"/>
            <a:ext cx="11150600" cy="444500"/>
          </a:xfrm>
          <a:prstGeom prst="rect">
            <a:avLst/>
          </a:prstGeom>
          <a:ln w="12700">
            <a:noFill/>
            <a:prstDash val="solid"/>
          </a:ln>
        </p:spPr>
      </p:pic>
      <p:pic>
        <p:nvPicPr>
          <p:cNvPr name="Picture 12" id="12"/>
          <p:cNvPicPr>
            <a:picLocks noChangeAspect="true"/>
          </p:cNvPicPr>
          <p:nvPr/>
        </p:nvPicPr>
        <p:blipFill>
          <a:blip r:embed="rId8"/>
          <a:stretch>
            <a:fillRect/>
          </a:stretch>
        </p:blipFill>
        <p:spPr>
          <a:xfrm rot="0" flipH="false" flipV="false">
            <a:off x="0" y="3702050"/>
            <a:ext cx="12192000" cy="512025"/>
          </a:xfrm>
          <a:prstGeom prst="rect">
            <a:avLst/>
          </a:prstGeom>
          <a:ln w="12700">
            <a:noFill/>
            <a:prstDash val="solid"/>
          </a:ln>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3613738" y="725016"/>
            <a:ext cx="5816600" cy="5676900"/>
          </a:xfrm>
          <a:prstGeom prst="rect">
            <a:avLst/>
          </a:prstGeom>
          <a:ln w="12700">
            <a:noFill/>
            <a:prstDash val="solid"/>
          </a:ln>
        </p:spPr>
      </p:pic>
      <p:sp>
        <p:nvSpPr>
          <p:cNvPr name="AutoShape 3" id="3"/>
          <p:cNvSpPr/>
          <p:nvPr/>
        </p:nvSpPr>
        <p:spPr>
          <a:xfrm rot="0" flipH="false" flipV="false">
            <a:off x="330306" y="353510"/>
            <a:ext cx="2908300" cy="304800"/>
          </a:xfrm>
          <a:prstGeom prst="rect">
            <a:avLst/>
          </a:prstGeom>
          <a:noFill/>
          <a:ln w="12700">
            <a:noFill/>
            <a:prstDash val="solid"/>
          </a:ln>
        </p:spPr>
        <p:txBody>
          <a:bodyPr anchor="t" rtlCol="false" wrap="none" lIns="0" rIns="0" tIns="0" bIns="0"/>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回溯图来理解bellman equation</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185857" y="279419"/>
            <a:ext cx="4013200" cy="6096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3200">
                <a:solidFill>
                  <a:srgbClr val="1F2329"/>
                </a:solidFill>
                <a:latin typeface="Noto Sans SC"/>
                <a:ea typeface="Noto Sans SC"/>
                <a:cs typeface="Noto Sans SC"/>
                <a:sym typeface="Noto Sans SC"/>
              </a:rPr>
              <a:t>贝尔曼期望方程</a:t>
            </a:r>
            <a:endParaRPr lang="en-US" sz="1100"/>
          </a:p>
        </p:txBody>
      </p:sp>
      <p:pic>
        <p:nvPicPr>
          <p:cNvPr name="Picture 3" id="3"/>
          <p:cNvPicPr>
            <a:picLocks noChangeAspect="true"/>
          </p:cNvPicPr>
          <p:nvPr/>
        </p:nvPicPr>
        <p:blipFill>
          <a:blip r:embed="rId2"/>
          <a:stretch>
            <a:fillRect/>
          </a:stretch>
        </p:blipFill>
        <p:spPr>
          <a:xfrm rot="0" flipH="false" flipV="false">
            <a:off x="1981200" y="6248400"/>
            <a:ext cx="8229600" cy="609600"/>
          </a:xfrm>
          <a:prstGeom prst="rect">
            <a:avLst/>
          </a:prstGeom>
          <a:ln w="12700">
            <a:noFill/>
            <a:prstDash val="solid"/>
          </a:ln>
        </p:spPr>
      </p:pic>
      <p:pic>
        <p:nvPicPr>
          <p:cNvPr name="Picture 4" id="4"/>
          <p:cNvPicPr>
            <a:picLocks noChangeAspect="true"/>
          </p:cNvPicPr>
          <p:nvPr/>
        </p:nvPicPr>
        <p:blipFill>
          <a:blip r:embed="rId3"/>
          <a:srcRect l="0" r="0" t="0" b="0"/>
          <a:stretch>
            <a:fillRect/>
          </a:stretch>
        </p:blipFill>
        <p:spPr>
          <a:xfrm rot="0" flipH="false" flipV="false">
            <a:off x="0" y="889019"/>
            <a:ext cx="12192000" cy="399738"/>
          </a:xfrm>
          <a:prstGeom prst="roundRect">
            <a:avLst>
              <a:gd name="adj" fmla="val 0"/>
            </a:avLst>
          </a:prstGeom>
          <a:ln w="12700">
            <a:noFill/>
            <a:prstDash val="solid"/>
          </a:ln>
        </p:spPr>
      </p:pic>
      <p:pic>
        <p:nvPicPr>
          <p:cNvPr name="Picture 5" id="5"/>
          <p:cNvPicPr>
            <a:picLocks noChangeAspect="true"/>
          </p:cNvPicPr>
          <p:nvPr/>
        </p:nvPicPr>
        <p:blipFill>
          <a:blip r:embed="rId4"/>
          <a:stretch>
            <a:fillRect/>
          </a:stretch>
        </p:blipFill>
        <p:spPr>
          <a:xfrm rot="0" flipH="false" flipV="false">
            <a:off x="3190937" y="1288757"/>
            <a:ext cx="5543566" cy="1959085"/>
          </a:xfrm>
          <a:prstGeom prst="rect">
            <a:avLst/>
          </a:prstGeom>
          <a:ln w="12700">
            <a:noFill/>
            <a:prstDash val="solid"/>
          </a:ln>
        </p:spPr>
      </p:pic>
      <p:sp>
        <p:nvSpPr>
          <p:cNvPr name="AutoShape 6" id="6"/>
          <p:cNvSpPr/>
          <p:nvPr/>
        </p:nvSpPr>
        <p:spPr>
          <a:xfrm rot="0" flipH="false" flipV="false">
            <a:off x="0" y="3463779"/>
            <a:ext cx="3162300" cy="6096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3200">
                <a:solidFill>
                  <a:srgbClr val="1F2329"/>
                </a:solidFill>
                <a:latin typeface="Noto Sans SC"/>
                <a:ea typeface="Noto Sans SC"/>
                <a:cs typeface="Noto Sans SC"/>
                <a:sym typeface="Noto Sans SC"/>
              </a:rPr>
              <a:t>贝尔曼最优方程</a:t>
            </a:r>
            <a:endParaRPr lang="en-US" sz="1100"/>
          </a:p>
        </p:txBody>
      </p:sp>
      <p:pic>
        <p:nvPicPr>
          <p:cNvPr name="Picture 7" id="7"/>
          <p:cNvPicPr>
            <a:picLocks noChangeAspect="true"/>
          </p:cNvPicPr>
          <p:nvPr/>
        </p:nvPicPr>
        <p:blipFill>
          <a:blip r:embed="rId5"/>
          <a:stretch>
            <a:fillRect/>
          </a:stretch>
        </p:blipFill>
        <p:spPr>
          <a:xfrm rot="0" flipH="false" flipV="false">
            <a:off x="3687156" y="4972115"/>
            <a:ext cx="4817689" cy="1276285"/>
          </a:xfrm>
          <a:prstGeom prst="rect">
            <a:avLst/>
          </a:prstGeom>
          <a:ln w="12700">
            <a:noFill/>
            <a:prstDash val="solid"/>
          </a:ln>
        </p:spPr>
      </p:pic>
      <p:cxnSp>
        <p:nvCxnSpPr>
          <p:cNvPr name="Connector 8" id="8"/>
          <p:cNvCxnSpPr/>
          <p:nvPr/>
        </p:nvCxnSpPr>
        <p:spPr>
          <a:xfrm rot="-15347" flipH="false" flipV="false">
            <a:off x="33560" y="3274907"/>
            <a:ext cx="12124880" cy="27064"/>
          </a:xfrm>
          <a:prstGeom prst="straightConnector1">
            <a:avLst/>
          </a:prstGeom>
          <a:solidFill>
            <a:srgbClr val="DEE0E3">
              <a:alpha val="100000"/>
            </a:srgbClr>
          </a:solidFill>
          <a:ln w="25400" cmpd="sng" cap="flat">
            <a:solidFill>
              <a:srgbClr val="2B2F36">
                <a:alpha val="100000"/>
              </a:srgbClr>
            </a:solidFill>
            <a:prstDash val="dot"/>
            <a:round/>
            <a:headEnd type="none" w="lg" len="lg"/>
            <a:tailEnd type="none" w="lg" len="lg"/>
          </a:ln>
        </p:spPr>
      </p:cxnSp>
      <p:sp>
        <p:nvSpPr>
          <p:cNvPr name="AutoShape 9" id="9"/>
          <p:cNvSpPr/>
          <p:nvPr/>
        </p:nvSpPr>
        <p:spPr>
          <a:xfrm rot="0" flipH="false" flipV="false">
            <a:off x="138283" y="4208122"/>
            <a:ext cx="11925300" cy="609600"/>
          </a:xfrm>
          <a:prstGeom prst="rect">
            <a:avLst/>
          </a:prstGeom>
          <a:noFill/>
          <a:ln w="12700">
            <a:noFill/>
            <a:prstDash val="solid"/>
          </a:ln>
        </p:spPr>
        <p:txBody>
          <a:bodyPr anchor="t" rtlCol="false" wrap="square" lIns="0" rIns="0" tIns="0" bIns="0"/>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这不同于期望方程，这里用max取最优动作。求解它就能找到最优策略。扩展：在一个网格世界中，最优策略是总是选择通往高奖励的路径。</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149861" y="48962"/>
            <a:ext cx="4013200" cy="6096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3200">
                <a:solidFill>
                  <a:srgbClr val="1F2329"/>
                </a:solidFill>
                <a:latin typeface="Noto Sans SC"/>
                <a:ea typeface="Noto Sans SC"/>
                <a:cs typeface="Noto Sans SC"/>
                <a:sym typeface="Noto Sans SC"/>
              </a:rPr>
              <a:t>最优策略</a:t>
            </a:r>
            <a:endParaRPr lang="en-US" sz="1100"/>
          </a:p>
        </p:txBody>
      </p:sp>
      <p:pic>
        <p:nvPicPr>
          <p:cNvPr name="Picture 3" id="3"/>
          <p:cNvPicPr>
            <a:picLocks noChangeAspect="true"/>
          </p:cNvPicPr>
          <p:nvPr/>
        </p:nvPicPr>
        <p:blipFill>
          <a:blip r:embed="rId2"/>
          <a:stretch>
            <a:fillRect/>
          </a:stretch>
        </p:blipFill>
        <p:spPr>
          <a:xfrm rot="0" flipH="false" flipV="false">
            <a:off x="3547111" y="1610488"/>
            <a:ext cx="4326630" cy="1709432"/>
          </a:xfrm>
          <a:prstGeom prst="rect">
            <a:avLst/>
          </a:prstGeom>
          <a:ln w="12700">
            <a:noFill/>
            <a:prstDash val="solid"/>
          </a:ln>
        </p:spPr>
      </p:pic>
      <p:pic>
        <p:nvPicPr>
          <p:cNvPr name="Picture 4" id="4"/>
          <p:cNvPicPr>
            <a:picLocks noChangeAspect="true"/>
          </p:cNvPicPr>
          <p:nvPr/>
        </p:nvPicPr>
        <p:blipFill>
          <a:blip r:embed="rId3"/>
          <a:stretch>
            <a:fillRect/>
          </a:stretch>
        </p:blipFill>
        <p:spPr>
          <a:xfrm rot="0" flipH="false" flipV="false">
            <a:off x="3547111" y="3721674"/>
            <a:ext cx="4737100" cy="774700"/>
          </a:xfrm>
          <a:prstGeom prst="rect">
            <a:avLst/>
          </a:prstGeom>
          <a:ln w="12700">
            <a:noFill/>
            <a:prstDash val="solid"/>
          </a:ln>
        </p:spPr>
      </p:pic>
      <p:pic>
        <p:nvPicPr>
          <p:cNvPr name="Picture 5" id="5"/>
          <p:cNvPicPr>
            <a:picLocks noChangeAspect="true"/>
          </p:cNvPicPr>
          <p:nvPr/>
        </p:nvPicPr>
        <p:blipFill>
          <a:blip r:embed="rId4"/>
          <a:stretch>
            <a:fillRect/>
          </a:stretch>
        </p:blipFill>
        <p:spPr>
          <a:xfrm rot="0" flipH="false" flipV="false">
            <a:off x="4163061" y="4365814"/>
            <a:ext cx="3505200" cy="812800"/>
          </a:xfrm>
          <a:prstGeom prst="rect">
            <a:avLst/>
          </a:prstGeom>
          <a:ln w="12700">
            <a:noFill/>
            <a:prstDash val="solid"/>
          </a:ln>
        </p:spPr>
      </p:pic>
      <p:pic>
        <p:nvPicPr>
          <p:cNvPr name="Picture 6" id="6"/>
          <p:cNvPicPr>
            <a:picLocks noChangeAspect="true"/>
          </p:cNvPicPr>
          <p:nvPr/>
        </p:nvPicPr>
        <p:blipFill>
          <a:blip r:embed="rId5"/>
          <a:stretch>
            <a:fillRect/>
          </a:stretch>
        </p:blipFill>
        <p:spPr>
          <a:xfrm rot="0" flipH="false" flipV="false">
            <a:off x="0" y="686400"/>
            <a:ext cx="12192000" cy="924088"/>
          </a:xfrm>
          <a:prstGeom prst="rect">
            <a:avLst/>
          </a:prstGeom>
          <a:ln w="12700">
            <a:noFill/>
            <a:prstDash val="solid"/>
          </a:ln>
        </p:spPr>
      </p:pic>
      <p:sp>
        <p:nvSpPr>
          <p:cNvPr name="AutoShape 7" id="7"/>
          <p:cNvSpPr/>
          <p:nvPr/>
        </p:nvSpPr>
        <p:spPr>
          <a:xfrm rot="0" flipH="false" flipV="false">
            <a:off x="0" y="3376994"/>
            <a:ext cx="4686300" cy="304800"/>
          </a:xfrm>
          <a:prstGeom prst="rect">
            <a:avLst/>
          </a:prstGeom>
          <a:noFill/>
          <a:ln w="12700">
            <a:noFill/>
            <a:prstDash val="solid"/>
          </a:ln>
        </p:spPr>
        <p:txBody>
          <a:bodyPr anchor="t" rtlCol="false" wrap="none" lIns="0" rIns="0" tIns="0" bIns="0"/>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最优状态价值函数和最优动作价值函数之间的关系：</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185857" y="279419"/>
            <a:ext cx="4013200" cy="6096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3200">
                <a:solidFill>
                  <a:srgbClr val="1F2329"/>
                </a:solidFill>
                <a:latin typeface="Noto Sans SC"/>
                <a:ea typeface="Noto Sans SC"/>
                <a:cs typeface="Noto Sans SC"/>
                <a:sym typeface="Noto Sans SC"/>
              </a:rPr>
              <a:t>蒙特卡洛方法</a:t>
            </a:r>
            <a:endParaRPr lang="en-US" sz="1100"/>
          </a:p>
        </p:txBody>
      </p:sp>
      <p:pic>
        <p:nvPicPr>
          <p:cNvPr name="Picture 3" id="3"/>
          <p:cNvPicPr>
            <a:picLocks noChangeAspect="true"/>
          </p:cNvPicPr>
          <p:nvPr/>
        </p:nvPicPr>
        <p:blipFill>
          <a:blip r:embed="rId2"/>
          <a:stretch>
            <a:fillRect/>
          </a:stretch>
        </p:blipFill>
        <p:spPr>
          <a:xfrm rot="0" flipH="false" flipV="false">
            <a:off x="1494642" y="5681684"/>
            <a:ext cx="4368800" cy="812800"/>
          </a:xfrm>
          <a:prstGeom prst="rect">
            <a:avLst/>
          </a:prstGeom>
          <a:ln w="12700">
            <a:noFill/>
            <a:prstDash val="solid"/>
          </a:ln>
        </p:spPr>
      </p:pic>
      <p:sp>
        <p:nvSpPr>
          <p:cNvPr name="AutoShape 4" id="4"/>
          <p:cNvSpPr/>
          <p:nvPr/>
        </p:nvSpPr>
        <p:spPr>
          <a:xfrm rot="0" flipH="false" flipV="false">
            <a:off x="313542" y="1063430"/>
            <a:ext cx="6731000" cy="2133600"/>
          </a:xfrm>
          <a:prstGeom prst="rect">
            <a:avLst/>
          </a:prstGeom>
          <a:noFill/>
          <a:ln w="12700">
            <a:noFill/>
            <a:prstDash val="solid"/>
          </a:ln>
        </p:spPr>
        <p:txBody>
          <a:bodyPr anchor="t" rtlCol="false"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蒙特卡洛方法</a:t>
            </a:r>
            <a:r>
              <a:rPr lang="en-US" b="false" i="false" strike="noStrike" u="none" sz="1600">
                <a:solidFill>
                  <a:srgbClr val="1F2329"/>
                </a:solidFill>
                <a:latin typeface="Noto Sans SC"/>
                <a:ea typeface="Noto Sans SC"/>
                <a:cs typeface="Noto Sans SC"/>
                <a:sym typeface="Noto Sans SC"/>
              </a:rPr>
              <a:t>（Monte-Carlo methods）也被称为统计模拟方法，是一种基于概率统计的数值计算方法。运用蒙特卡洛方法时，我们通常使用重复随机抽样，然后运用概率统计方法来从抽样结果中归纳出我们想求的目标的数值估计。一个简单的例子是用蒙特卡洛方法来计算圆的面积。</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所示的正方形内部随机产生若干个点，细数落在圆中点的个数，圆的面积与正方形面积之比就等于圆中点的个数与正方形中点的个数之比。如果我们随机产生的点的个数越多，计算得到圆的面积就越接近于真实的圆的面积。</a:t>
            </a:r>
            <a:endParaRPr lang="en-US" sz="1100"/>
          </a:p>
        </p:txBody>
      </p:sp>
      <p:pic>
        <p:nvPicPr>
          <p:cNvPr name="Picture 5" id="5"/>
          <p:cNvPicPr>
            <a:picLocks noChangeAspect="true"/>
          </p:cNvPicPr>
          <p:nvPr/>
        </p:nvPicPr>
        <p:blipFill>
          <a:blip r:embed="rId3"/>
          <a:stretch>
            <a:fillRect/>
          </a:stretch>
        </p:blipFill>
        <p:spPr>
          <a:xfrm rot="0" flipH="false" flipV="false">
            <a:off x="8084141" y="231970"/>
            <a:ext cx="3846919" cy="3197030"/>
          </a:xfrm>
          <a:prstGeom prst="rect">
            <a:avLst/>
          </a:prstGeom>
          <a:ln w="12700">
            <a:noFill/>
            <a:prstDash val="solid"/>
          </a:ln>
        </p:spPr>
      </p:pic>
      <p:sp>
        <p:nvSpPr>
          <p:cNvPr name="AutoShape 6" id="6"/>
          <p:cNvSpPr/>
          <p:nvPr/>
        </p:nvSpPr>
        <p:spPr>
          <a:xfrm rot="0" flipH="false" flipV="false">
            <a:off x="313542" y="4288073"/>
            <a:ext cx="6731000" cy="1219200"/>
          </a:xfrm>
          <a:prstGeom prst="rect">
            <a:avLst/>
          </a:prstGeom>
          <a:noFill/>
          <a:ln w="12700">
            <a:noFill/>
            <a:prstDash val="solid"/>
          </a:ln>
        </p:spPr>
        <p:txBody>
          <a:bodyPr anchor="t" rtlCol="false" wrap="square" lIns="0" rIns="0" tIns="0" bIns="0"/>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我们现在介绍如何用蒙特卡洛方法来估计一个策略在一个马尔可夫决策过程中的状态价值函数。回忆一下，一个状态的价值是它的期望回报，那么一个很直观的想法就是用策略在 MDP 上采样很多条序列，计算从这个状态出发的回报再求其期望就可以了，公式如下：</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185857" y="279419"/>
            <a:ext cx="4013200" cy="6096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3200">
                <a:solidFill>
                  <a:srgbClr val="1F2329"/>
                </a:solidFill>
                <a:latin typeface="Noto Sans SC"/>
                <a:ea typeface="Noto Sans SC"/>
                <a:cs typeface="Noto Sans SC"/>
                <a:sym typeface="Noto Sans SC"/>
              </a:rPr>
              <a:t>采样函数</a:t>
            </a:r>
            <a:endParaRPr lang="en-US" sz="1100"/>
          </a:p>
        </p:txBody>
      </p:sp>
      <p:sp>
        <p:nvSpPr>
          <p:cNvPr name="AutoShape 3" id="3"/>
          <p:cNvSpPr/>
          <p:nvPr/>
        </p:nvSpPr>
        <p:spPr>
          <a:xfrm rot="0" flipH="false" flipV="false">
            <a:off x="185857" y="955173"/>
            <a:ext cx="6732286" cy="685800"/>
          </a:xfrm>
          <a:prstGeom prst="rect">
            <a:avLst/>
          </a:prstGeom>
          <a:noFill/>
          <a:ln w="12700">
            <a:noFill/>
            <a:prstDash val="solid"/>
          </a:ln>
        </p:spPr>
        <p:txBody>
          <a:bodyPr anchor="t" rtlCol="false" wrap="square" lIns="0" rIns="0" tIns="0" bIns="0"/>
          <a:lstStyle/>
          <a:p>
            <a:pPr algn="l" indent="0">
              <a:lnSpc>
                <a:spcPct val="125000"/>
              </a:lnSpc>
              <a:defRPr/>
            </a:pPr>
            <a:r>
              <a:rPr lang="en-US" b="false" i="false" strike="noStrike" u="none" sz="1200">
                <a:solidFill>
                  <a:srgbClr val="1F2329"/>
                </a:solidFill>
                <a:latin typeface="Noto Sans SC"/>
                <a:ea typeface="Noto Sans SC"/>
                <a:cs typeface="Noto Sans SC"/>
                <a:sym typeface="Noto Sans SC"/>
              </a:rPr>
              <a:t>接下来我们用代码定义一个采样函数。采样函数需要遵守状态转移矩阵和相应的策略，每次将(s,a,r,s_next)元组放入序列中，直到到达终止序列。然后我们通过该函数，用随机策略在 MDP 中随机采样几条序列。</a:t>
            </a:r>
            <a:endParaRPr lang="en-US" sz="1100"/>
          </a:p>
        </p:txBody>
      </p:sp>
      <p:pic>
        <p:nvPicPr>
          <p:cNvPr name="Picture 4" id="4"/>
          <p:cNvPicPr>
            <a:picLocks noChangeAspect="true"/>
          </p:cNvPicPr>
          <p:nvPr/>
        </p:nvPicPr>
        <p:blipFill>
          <a:blip r:embed="rId2"/>
          <a:stretch>
            <a:fillRect/>
          </a:stretch>
        </p:blipFill>
        <p:spPr>
          <a:xfrm rot="0" flipH="false" flipV="false">
            <a:off x="7066900" y="0"/>
            <a:ext cx="5125100" cy="6858000"/>
          </a:xfrm>
          <a:prstGeom prst="rect">
            <a:avLst/>
          </a:prstGeom>
          <a:ln w="12700">
            <a:noFill/>
            <a:prstDash val="solid"/>
          </a:ln>
        </p:spPr>
      </p:pic>
      <p:pic>
        <p:nvPicPr>
          <p:cNvPr name="Picture 5" id="5"/>
          <p:cNvPicPr>
            <a:picLocks noChangeAspect="true"/>
          </p:cNvPicPr>
          <p:nvPr/>
        </p:nvPicPr>
        <p:blipFill>
          <a:blip r:embed="rId3"/>
          <a:stretch>
            <a:fillRect/>
          </a:stretch>
        </p:blipFill>
        <p:spPr>
          <a:xfrm rot="0" flipH="false" flipV="false">
            <a:off x="412733" y="3198952"/>
            <a:ext cx="5539313" cy="3246315"/>
          </a:xfrm>
          <a:prstGeom prst="rect">
            <a:avLst/>
          </a:prstGeom>
          <a:ln w="12700">
            <a:noFill/>
            <a:prstDash val="solid"/>
          </a:ln>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