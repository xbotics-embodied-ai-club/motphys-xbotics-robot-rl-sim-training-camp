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953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开场：大家好，今天介绍 MotrixLab。先提出问题：拿到一个机器人 RL 项目，第一件事是什么？引出核心观点：真正难维护的是工程组织方式。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很多人会说“看代码”“跑 Demo”“配环境”。但今天要强调的是：这些都不是最重要的。机器人 RL 项目真正难维护的通常不是某个公式，而是整个工程架构。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MotrixLab 的核心作用是组织机器人强化学习任务中常见的工程组成：环境、仿真、训练、奖励、配置、日志与 Demo 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通过普通 RL 教学任务与机器人 RL 任务对比，说明框架必要性。机器人任务不是单个算法脚本能长期维护的，需要模块化组织。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机器人任务通常包含模型、执行器、仿真、控制频率、观测空间、动作空间、奖励函数、终止条件、训练算法、日志和权重。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重要的事情说三遍：Demo 是入口，不是全部。长期来看，需要阅读、修改和扩展的是环境、奖励、配置和训练流程，而不是某个 Demo 脚本。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MotrixLab 主要解决五类问题：环境定义、奖励设计、配置管理、注册机制、训练入口。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用一句话总结各模块职责：环境定义任务，奖励生成学习信号，配置管理参数，注册建立名字到实现的映射，训练入口串联任务、配置、算法和日志。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MotrixLab 适合四类场景：学习和教学、Demo 复现和分析、任务改造、新任务开发。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推荐的阅读顺序：入口脚本、注册系统、EnvCfg、Env、Reward、RL 配置。不要一开始逐行读所有代码。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检查清单：读完一个任务后，应能回答入口、映射、参数、动作、观测、奖励、终止和复现等问题。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收尾总结：先理解工程组织方式；Demo 只是入口；按阅读路径建立代码地图。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uturistic_robotics_framework_presentation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mnt/data/motphys_logo_black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7472"/>
            <a:ext cx="1298448" cy="279400"/>
          </a:xfrm>
          <a:prstGeom prst="rect">
            <a:avLst/>
          </a:prstGeom>
        </p:spPr>
      </p:pic>
      <p:pic>
        <p:nvPicPr>
          <p:cNvPr id="4" name="Image 1" descr="/mnt/data/xbotics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92608"/>
            <a:ext cx="2057400" cy="6126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8368" y="960120"/>
            <a:ext cx="219456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OPENING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58368" y="1335024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从一个问题开始</a:t>
            </a:r>
            <a:endParaRPr lang="en-US" sz="3200" dirty="0"/>
          </a:p>
        </p:txBody>
      </p:sp>
      <p:sp>
        <p:nvSpPr>
          <p:cNvPr id="7" name="Shape 3"/>
          <p:cNvSpPr/>
          <p:nvPr/>
        </p:nvSpPr>
        <p:spPr>
          <a:xfrm>
            <a:off x="658368" y="1880848"/>
            <a:ext cx="1051560" cy="0"/>
          </a:xfrm>
          <a:prstGeom prst="line">
            <a:avLst/>
          </a:prstGeom>
          <a:noFill/>
          <a:ln w="12700">
            <a:solidFill>
              <a:srgbClr val="E21B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4"/>
          <p:cNvSpPr/>
          <p:nvPr/>
        </p:nvSpPr>
        <p:spPr>
          <a:xfrm>
            <a:off x="594360" y="6327648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640080" y="6464808"/>
            <a:ext cx="359585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MotrixLab Framework Intro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1018520" y="6419088"/>
            <a:ext cx="53035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68680" y="214735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当你拿到一个机器人 RL 项目，第一件事是什么？</a:t>
            </a:r>
            <a:endParaRPr lang="en-US" sz="2800" dirty="0"/>
          </a:p>
        </p:txBody>
      </p:sp>
      <p:sp>
        <p:nvSpPr>
          <p:cNvPr id="12" name="Shape 8"/>
          <p:cNvSpPr/>
          <p:nvPr/>
        </p:nvSpPr>
        <p:spPr>
          <a:xfrm>
            <a:off x="1005840" y="2944368"/>
            <a:ext cx="31546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1005840" y="2944368"/>
            <a:ext cx="54864" cy="10241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/>
          <p:cNvSpPr/>
          <p:nvPr/>
        </p:nvSpPr>
        <p:spPr>
          <a:xfrm>
            <a:off x="1207008" y="3090672"/>
            <a:ext cx="2743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看代码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207008" y="3447288"/>
            <a:ext cx="27523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容易陷入局部实现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709160" y="2944368"/>
            <a:ext cx="31546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3"/>
          <p:cNvSpPr/>
          <p:nvPr/>
        </p:nvSpPr>
        <p:spPr>
          <a:xfrm>
            <a:off x="4709160" y="2944368"/>
            <a:ext cx="54864" cy="1024128"/>
          </a:xfrm>
          <a:prstGeom prst="rect">
            <a:avLst/>
          </a:prstGeom>
          <a:solidFill>
            <a:srgbClr val="E21B23"/>
          </a:solidFill>
          <a:ln w="12700">
            <a:solidFill>
              <a:srgbClr val="E21B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4910328" y="3090672"/>
            <a:ext cx="2743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 Demo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4910328" y="3447288"/>
            <a:ext cx="27523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只能证明入口能运行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8412480" y="2944368"/>
            <a:ext cx="31546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7"/>
          <p:cNvSpPr/>
          <p:nvPr/>
        </p:nvSpPr>
        <p:spPr>
          <a:xfrm>
            <a:off x="8412480" y="2944368"/>
            <a:ext cx="54864" cy="102412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8"/>
          <p:cNvSpPr/>
          <p:nvPr/>
        </p:nvSpPr>
        <p:spPr>
          <a:xfrm>
            <a:off x="8613648" y="3090672"/>
            <a:ext cx="2743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配环境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8613648" y="3447288"/>
            <a:ext cx="27523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必要，但不是理解项目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1965960" y="4754880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F7F8FA"/>
          </a:solidFill>
          <a:ln w="12700">
            <a:solidFill>
              <a:srgbClr val="E21B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1"/>
          <p:cNvSpPr/>
          <p:nvPr/>
        </p:nvSpPr>
        <p:spPr>
          <a:xfrm>
            <a:off x="2212848" y="4990125"/>
            <a:ext cx="77266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最重要的是：理解项目的工程组织方式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mnt/data/motphys_logo_black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7472"/>
            <a:ext cx="1298448" cy="279400"/>
          </a:xfrm>
          <a:prstGeom prst="rect">
            <a:avLst/>
          </a:prstGeom>
        </p:spPr>
      </p:pic>
      <p:pic>
        <p:nvPicPr>
          <p:cNvPr id="4" name="Image 1" descr="/mnt/data/xbotics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92608"/>
            <a:ext cx="2057400" cy="6126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8368" y="960120"/>
            <a:ext cx="219456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58368" y="1216152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MotrixLab 是什么？</a:t>
            </a:r>
            <a:endParaRPr lang="en-US" sz="3200" dirty="0"/>
          </a:p>
        </p:txBody>
      </p:sp>
      <p:sp>
        <p:nvSpPr>
          <p:cNvPr id="7" name="Shape 3"/>
          <p:cNvSpPr/>
          <p:nvPr/>
        </p:nvSpPr>
        <p:spPr>
          <a:xfrm>
            <a:off x="658368" y="1810512"/>
            <a:ext cx="1051560" cy="0"/>
          </a:xfrm>
          <a:prstGeom prst="line">
            <a:avLst/>
          </a:prstGeom>
          <a:noFill/>
          <a:ln w="12700">
            <a:solidFill>
              <a:srgbClr val="E21B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4"/>
          <p:cNvSpPr/>
          <p:nvPr/>
        </p:nvSpPr>
        <p:spPr>
          <a:xfrm>
            <a:off x="594360" y="6327648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640079" y="6464808"/>
            <a:ext cx="36349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MotrixLab Framework Intro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1018520" y="6419088"/>
            <a:ext cx="53035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841248" y="2057400"/>
            <a:ext cx="10561320" cy="713232"/>
          </a:xfrm>
          <a:prstGeom prst="roundRect">
            <a:avLst>
              <a:gd name="adj" fmla="val 10256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1003341" y="2196516"/>
            <a:ext cx="1085244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面向机器人强化学习任务的工程框架，用来组织环境、仿真、训练、奖励、配置、日志与 Demo </a:t>
            </a:r>
            <a:r>
              <a:rPr lang="en-US" dirty="0" err="1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841248" y="3182112"/>
            <a:ext cx="318211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0"/>
          <p:cNvSpPr/>
          <p:nvPr/>
        </p:nvSpPr>
        <p:spPr>
          <a:xfrm>
            <a:off x="841248" y="3182112"/>
            <a:ext cx="54864" cy="960120"/>
          </a:xfrm>
          <a:prstGeom prst="rect">
            <a:avLst/>
          </a:prstGeom>
          <a:solidFill>
            <a:srgbClr val="E21B23"/>
          </a:solidFill>
          <a:ln w="12700">
            <a:solidFill>
              <a:srgbClr val="E21B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/>
          <p:cNvSpPr/>
          <p:nvPr/>
        </p:nvSpPr>
        <p:spPr>
          <a:xfrm>
            <a:off x="1042416" y="3234636"/>
            <a:ext cx="277063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042416" y="3645957"/>
            <a:ext cx="2779776" cy="43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任务目标 / 观测 / 动作</a:t>
            </a: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/ reset 逻辑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4526280" y="3182112"/>
            <a:ext cx="318211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4"/>
          <p:cNvSpPr/>
          <p:nvPr/>
        </p:nvSpPr>
        <p:spPr>
          <a:xfrm>
            <a:off x="4526280" y="3182112"/>
            <a:ext cx="54864" cy="9601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5"/>
          <p:cNvSpPr/>
          <p:nvPr/>
        </p:nvSpPr>
        <p:spPr>
          <a:xfrm>
            <a:off x="4727448" y="3234636"/>
            <a:ext cx="277063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4727448" y="3645957"/>
            <a:ext cx="2779776" cy="43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物理模型 / 接触碰撞</a:t>
            </a: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动力学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8211312" y="3182112"/>
            <a:ext cx="318211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8"/>
          <p:cNvSpPr/>
          <p:nvPr/>
        </p:nvSpPr>
        <p:spPr>
          <a:xfrm>
            <a:off x="8211312" y="3182112"/>
            <a:ext cx="54864" cy="9601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9"/>
          <p:cNvSpPr/>
          <p:nvPr/>
        </p:nvSpPr>
        <p:spPr>
          <a:xfrm>
            <a:off x="8412480" y="3234636"/>
            <a:ext cx="277063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8412480" y="3645957"/>
            <a:ext cx="2779776" cy="43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算法 / 采样更新</a:t>
            </a: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并行训练</a:t>
            </a:r>
            <a:endParaRPr lang="en-US" sz="2000" dirty="0"/>
          </a:p>
        </p:txBody>
      </p:sp>
      <p:sp>
        <p:nvSpPr>
          <p:cNvPr id="25" name="Shape 21"/>
          <p:cNvSpPr/>
          <p:nvPr/>
        </p:nvSpPr>
        <p:spPr>
          <a:xfrm>
            <a:off x="841248" y="4507992"/>
            <a:ext cx="318211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2"/>
          <p:cNvSpPr/>
          <p:nvPr/>
        </p:nvSpPr>
        <p:spPr>
          <a:xfrm>
            <a:off x="841248" y="4507992"/>
            <a:ext cx="54864" cy="960120"/>
          </a:xfrm>
          <a:prstGeom prst="rect">
            <a:avLst/>
          </a:prstGeom>
          <a:solidFill>
            <a:srgbClr val="F43F46"/>
          </a:solidFill>
          <a:ln w="12700">
            <a:solidFill>
              <a:srgbClr val="F43F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3"/>
          <p:cNvSpPr/>
          <p:nvPr/>
        </p:nvSpPr>
        <p:spPr>
          <a:xfrm>
            <a:off x="1042416" y="4560516"/>
            <a:ext cx="277063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1042416" y="4924947"/>
            <a:ext cx="2779776" cy="43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奖励函数设计</a:t>
            </a: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权重调整</a:t>
            </a:r>
            <a:endParaRPr lang="en-US" sz="2000" dirty="0"/>
          </a:p>
        </p:txBody>
      </p:sp>
      <p:sp>
        <p:nvSpPr>
          <p:cNvPr id="29" name="Shape 25"/>
          <p:cNvSpPr/>
          <p:nvPr/>
        </p:nvSpPr>
        <p:spPr>
          <a:xfrm>
            <a:off x="4526280" y="4507992"/>
            <a:ext cx="318211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6"/>
          <p:cNvSpPr/>
          <p:nvPr/>
        </p:nvSpPr>
        <p:spPr>
          <a:xfrm>
            <a:off x="4526280" y="4507992"/>
            <a:ext cx="54864" cy="9601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7"/>
          <p:cNvSpPr/>
          <p:nvPr/>
        </p:nvSpPr>
        <p:spPr>
          <a:xfrm>
            <a:off x="4727448" y="4560516"/>
            <a:ext cx="277063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4727448" y="4971837"/>
            <a:ext cx="2779776" cy="43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仿真参数 / 训练超参</a:t>
            </a: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命令行管理</a:t>
            </a:r>
            <a:endParaRPr lang="en-US" sz="2000" dirty="0"/>
          </a:p>
        </p:txBody>
      </p:sp>
      <p:sp>
        <p:nvSpPr>
          <p:cNvPr id="33" name="Shape 29"/>
          <p:cNvSpPr/>
          <p:nvPr/>
        </p:nvSpPr>
        <p:spPr>
          <a:xfrm>
            <a:off x="8211312" y="4507992"/>
            <a:ext cx="318211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0"/>
          <p:cNvSpPr/>
          <p:nvPr/>
        </p:nvSpPr>
        <p:spPr>
          <a:xfrm>
            <a:off x="8211312" y="4507992"/>
            <a:ext cx="54864" cy="9601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1"/>
          <p:cNvSpPr/>
          <p:nvPr/>
        </p:nvSpPr>
        <p:spPr>
          <a:xfrm>
            <a:off x="8412480" y="4560516"/>
            <a:ext cx="277063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日志与 Demo</a:t>
            </a:r>
            <a:endParaRPr lang="en-US" sz="2000" dirty="0"/>
          </a:p>
        </p:txBody>
      </p:sp>
      <p:sp>
        <p:nvSpPr>
          <p:cNvPr id="36" name="Text 32"/>
          <p:cNvSpPr/>
          <p:nvPr/>
        </p:nvSpPr>
        <p:spPr>
          <a:xfrm>
            <a:off x="8412480" y="4971837"/>
            <a:ext cx="2779776" cy="43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训练监控</a:t>
            </a: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结果复现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/mnt/data/motphys_logo_black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7472"/>
            <a:ext cx="1298448" cy="279400"/>
          </a:xfrm>
          <a:prstGeom prst="rect">
            <a:avLst/>
          </a:prstGeom>
        </p:spPr>
      </p:pic>
      <p:pic>
        <p:nvPicPr>
          <p:cNvPr id="4" name="Image 1" descr="/mnt/data/xbotics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92608"/>
            <a:ext cx="2057400" cy="6126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8368" y="960120"/>
            <a:ext cx="219456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58368" y="1216152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为什么需要这样的框架？</a:t>
            </a:r>
            <a:endParaRPr lang="en-US" sz="3200" dirty="0"/>
          </a:p>
        </p:txBody>
      </p:sp>
      <p:sp>
        <p:nvSpPr>
          <p:cNvPr id="7" name="Shape 3"/>
          <p:cNvSpPr/>
          <p:nvPr/>
        </p:nvSpPr>
        <p:spPr>
          <a:xfrm>
            <a:off x="658368" y="1810512"/>
            <a:ext cx="1051560" cy="0"/>
          </a:xfrm>
          <a:prstGeom prst="line">
            <a:avLst/>
          </a:prstGeom>
          <a:noFill/>
          <a:ln w="12700">
            <a:solidFill>
              <a:srgbClr val="E21B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4"/>
          <p:cNvSpPr/>
          <p:nvPr/>
        </p:nvSpPr>
        <p:spPr>
          <a:xfrm>
            <a:off x="594360" y="6327648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640080" y="6464808"/>
            <a:ext cx="34708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MotrixLab Framework Intro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1018520" y="6419088"/>
            <a:ext cx="53035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868680" y="2057400"/>
            <a:ext cx="5074920" cy="3090672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868680" y="2057400"/>
            <a:ext cx="54864" cy="309067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1069848" y="2203704"/>
            <a:ext cx="466344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 RL 教学任务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1069848" y="2560320"/>
            <a:ext cx="4672584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CartPole、Pendulum：任务小、状态动作空间简单、物理模型轻量，一个脚本也能看清流程。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263640" y="2057400"/>
            <a:ext cx="5074920" cy="3090672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2"/>
          <p:cNvSpPr/>
          <p:nvPr/>
        </p:nvSpPr>
        <p:spPr>
          <a:xfrm>
            <a:off x="6263640" y="2057400"/>
            <a:ext cx="54864" cy="3090672"/>
          </a:xfrm>
          <a:prstGeom prst="rect">
            <a:avLst/>
          </a:prstGeom>
          <a:solidFill>
            <a:srgbClr val="E21B23"/>
          </a:solidFill>
          <a:ln w="12700">
            <a:solidFill>
              <a:srgbClr val="E21B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3"/>
          <p:cNvSpPr/>
          <p:nvPr/>
        </p:nvSpPr>
        <p:spPr>
          <a:xfrm>
            <a:off x="6464808" y="2203704"/>
            <a:ext cx="466344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 RL 任务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464808" y="2560320"/>
            <a:ext cx="4672584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涉及机器人模型、执行器、物理仿真、控制频率、观测动作、奖励、终止条件、训练算法、日志和权重。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925312" y="3602736"/>
            <a:ext cx="338328" cy="0"/>
          </a:xfrm>
          <a:prstGeom prst="line">
            <a:avLst/>
          </a:prstGeom>
          <a:noFill/>
          <a:ln w="12700">
            <a:solidFill>
              <a:srgbClr val="E21B23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6"/>
          <p:cNvSpPr/>
          <p:nvPr/>
        </p:nvSpPr>
        <p:spPr>
          <a:xfrm>
            <a:off x="2852928" y="5486400"/>
            <a:ext cx="6492240" cy="502920"/>
          </a:xfrm>
          <a:prstGeom prst="roundRect">
            <a:avLst>
              <a:gd name="adj" fmla="val 14545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7"/>
          <p:cNvSpPr/>
          <p:nvPr/>
        </p:nvSpPr>
        <p:spPr>
          <a:xfrm>
            <a:off x="3017520" y="5660136"/>
            <a:ext cx="6172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如果这些全塞进一个脚本，很快就会失控。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mnt/data/motphys_logo_black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7472"/>
            <a:ext cx="1298448" cy="279400"/>
          </a:xfrm>
          <a:prstGeom prst="rect">
            <a:avLst/>
          </a:prstGeom>
        </p:spPr>
      </p:pic>
      <p:pic>
        <p:nvPicPr>
          <p:cNvPr id="4" name="Image 1" descr="/mnt/data/xbotics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92608"/>
            <a:ext cx="2057400" cy="6126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8368" y="960120"/>
            <a:ext cx="219456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58368" y="1216152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 RL 任务的组成地图</a:t>
            </a:r>
            <a:endParaRPr lang="en-US" sz="3200" dirty="0"/>
          </a:p>
        </p:txBody>
      </p:sp>
      <p:sp>
        <p:nvSpPr>
          <p:cNvPr id="7" name="Shape 3"/>
          <p:cNvSpPr/>
          <p:nvPr/>
        </p:nvSpPr>
        <p:spPr>
          <a:xfrm>
            <a:off x="658368" y="1810512"/>
            <a:ext cx="1051560" cy="0"/>
          </a:xfrm>
          <a:prstGeom prst="line">
            <a:avLst/>
          </a:prstGeom>
          <a:noFill/>
          <a:ln w="12700">
            <a:solidFill>
              <a:srgbClr val="E21B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4"/>
          <p:cNvSpPr/>
          <p:nvPr/>
        </p:nvSpPr>
        <p:spPr>
          <a:xfrm>
            <a:off x="594360" y="6327648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640080" y="6464808"/>
            <a:ext cx="337702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MotrixLab Framework Intro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1018520" y="6419088"/>
            <a:ext cx="53035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58368" y="2148840"/>
            <a:ext cx="193852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749808" y="2359152"/>
            <a:ext cx="175564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机器人模型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68096" y="2752344"/>
            <a:ext cx="17190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URDF / MJCF / XML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2980944" y="2148840"/>
            <a:ext cx="193852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1B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/>
          <p:cNvSpPr/>
          <p:nvPr/>
        </p:nvSpPr>
        <p:spPr>
          <a:xfrm>
            <a:off x="3072384" y="2359152"/>
            <a:ext cx="175564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关节和执行器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090672" y="2752344"/>
            <a:ext cx="17190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动作如何映射到控制量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5303520" y="2148840"/>
            <a:ext cx="193852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5394960" y="2359152"/>
            <a:ext cx="175564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物理仿真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5413248" y="2752344"/>
            <a:ext cx="17190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接触 / 碰撞 / 动力学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7626096" y="2148840"/>
            <a:ext cx="193852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43F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7"/>
          <p:cNvSpPr/>
          <p:nvPr/>
        </p:nvSpPr>
        <p:spPr>
          <a:xfrm>
            <a:off x="7717536" y="2359152"/>
            <a:ext cx="175564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控制频率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7735824" y="2752344"/>
            <a:ext cx="17190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sim_dt / ctrl_dt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9948672" y="2148840"/>
            <a:ext cx="193852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0"/>
          <p:cNvSpPr/>
          <p:nvPr/>
        </p:nvSpPr>
        <p:spPr>
          <a:xfrm>
            <a:off x="10040112" y="2359152"/>
            <a:ext cx="175564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观测空间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10058400" y="2752344"/>
            <a:ext cx="17190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智能体每一步看到什么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658368" y="3721608"/>
            <a:ext cx="193852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1B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3"/>
          <p:cNvSpPr/>
          <p:nvPr/>
        </p:nvSpPr>
        <p:spPr>
          <a:xfrm>
            <a:off x="749808" y="3931920"/>
            <a:ext cx="175564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动作空间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768096" y="4325112"/>
            <a:ext cx="17190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策略输出代表什么</a:t>
            </a:r>
            <a:endParaRPr lang="en-US" sz="2000" dirty="0"/>
          </a:p>
        </p:txBody>
      </p:sp>
      <p:sp>
        <p:nvSpPr>
          <p:cNvPr id="29" name="Shape 25"/>
          <p:cNvSpPr/>
          <p:nvPr/>
        </p:nvSpPr>
        <p:spPr>
          <a:xfrm>
            <a:off x="2980944" y="3721608"/>
            <a:ext cx="193852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6"/>
          <p:cNvSpPr/>
          <p:nvPr/>
        </p:nvSpPr>
        <p:spPr>
          <a:xfrm>
            <a:off x="3072384" y="3931920"/>
            <a:ext cx="175564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奖励函数</a:t>
            </a:r>
            <a:endParaRPr lang="en-US" sz="2000" dirty="0"/>
          </a:p>
        </p:txBody>
      </p:sp>
      <p:sp>
        <p:nvSpPr>
          <p:cNvPr id="31" name="Text 27"/>
          <p:cNvSpPr/>
          <p:nvPr/>
        </p:nvSpPr>
        <p:spPr>
          <a:xfrm>
            <a:off x="3090672" y="4325112"/>
            <a:ext cx="17190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行为好坏转成训练信号</a:t>
            </a:r>
            <a:endParaRPr lang="en-US" sz="2000" dirty="0"/>
          </a:p>
        </p:txBody>
      </p:sp>
      <p:sp>
        <p:nvSpPr>
          <p:cNvPr id="32" name="Shape 28"/>
          <p:cNvSpPr/>
          <p:nvPr/>
        </p:nvSpPr>
        <p:spPr>
          <a:xfrm>
            <a:off x="5303520" y="3721608"/>
            <a:ext cx="193852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43F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9"/>
          <p:cNvSpPr/>
          <p:nvPr/>
        </p:nvSpPr>
        <p:spPr>
          <a:xfrm>
            <a:off x="5394960" y="3931920"/>
            <a:ext cx="175564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终止条件</a:t>
            </a:r>
            <a:endParaRPr lang="en-US" sz="2000" dirty="0"/>
          </a:p>
        </p:txBody>
      </p:sp>
      <p:sp>
        <p:nvSpPr>
          <p:cNvPr id="34" name="Text 30"/>
          <p:cNvSpPr/>
          <p:nvPr/>
        </p:nvSpPr>
        <p:spPr>
          <a:xfrm>
            <a:off x="5413248" y="4325112"/>
            <a:ext cx="17190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 / 失败 / 超时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7626096" y="3721608"/>
            <a:ext cx="193852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2"/>
          <p:cNvSpPr/>
          <p:nvPr/>
        </p:nvSpPr>
        <p:spPr>
          <a:xfrm>
            <a:off x="7717536" y="3931920"/>
            <a:ext cx="175564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训练算法</a:t>
            </a:r>
            <a:endParaRPr lang="en-US" sz="2000" dirty="0"/>
          </a:p>
        </p:txBody>
      </p:sp>
      <p:sp>
        <p:nvSpPr>
          <p:cNvPr id="37" name="Text 33"/>
          <p:cNvSpPr/>
          <p:nvPr/>
        </p:nvSpPr>
        <p:spPr>
          <a:xfrm>
            <a:off x="7735824" y="4325112"/>
            <a:ext cx="17190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PPO 等采样与更新</a:t>
            </a:r>
            <a:endParaRPr lang="en-US" sz="2000" dirty="0"/>
          </a:p>
        </p:txBody>
      </p:sp>
      <p:sp>
        <p:nvSpPr>
          <p:cNvPr id="38" name="Shape 34"/>
          <p:cNvSpPr/>
          <p:nvPr/>
        </p:nvSpPr>
        <p:spPr>
          <a:xfrm>
            <a:off x="9948672" y="3721608"/>
            <a:ext cx="1938528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1B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5"/>
          <p:cNvSpPr/>
          <p:nvPr/>
        </p:nvSpPr>
        <p:spPr>
          <a:xfrm>
            <a:off x="10040112" y="3931920"/>
            <a:ext cx="175564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日志和权重</a:t>
            </a:r>
            <a:endParaRPr lang="en-US" sz="2000" dirty="0"/>
          </a:p>
        </p:txBody>
      </p:sp>
      <p:sp>
        <p:nvSpPr>
          <p:cNvPr id="40" name="Text 36"/>
          <p:cNvSpPr/>
          <p:nvPr/>
        </p:nvSpPr>
        <p:spPr>
          <a:xfrm>
            <a:off x="10058400" y="4325112"/>
            <a:ext cx="17190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 / 复现 / 评估</a:t>
            </a:r>
            <a:endParaRPr lang="en-US" sz="2000" dirty="0"/>
          </a:p>
        </p:txBody>
      </p:sp>
      <p:sp>
        <p:nvSpPr>
          <p:cNvPr id="41" name="Text 37"/>
          <p:cNvSpPr/>
          <p:nvPr/>
        </p:nvSpPr>
        <p:spPr>
          <a:xfrm>
            <a:off x="2468880" y="5343652"/>
            <a:ext cx="722376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MotrixLab </a:t>
            </a:r>
            <a:r>
              <a:rPr lang="en-US" sz="2400" b="1" dirty="0" err="1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的价值：把复杂组成拆成相对清楚的模块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mnt/data/motphys_logo_black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7472"/>
            <a:ext cx="1298448" cy="279400"/>
          </a:xfrm>
          <a:prstGeom prst="rect">
            <a:avLst/>
          </a:prstGeom>
        </p:spPr>
      </p:pic>
      <p:pic>
        <p:nvPicPr>
          <p:cNvPr id="4" name="Image 1" descr="/mnt/data/xbotics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92608"/>
            <a:ext cx="2057400" cy="6126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8368" y="921004"/>
            <a:ext cx="219456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IDEA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40080" y="1366284"/>
            <a:ext cx="52917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是入口，不是全部</a:t>
            </a:r>
            <a:endParaRPr lang="en-US" sz="3200" dirty="0"/>
          </a:p>
        </p:txBody>
      </p:sp>
      <p:sp>
        <p:nvSpPr>
          <p:cNvPr id="7" name="Shape 3"/>
          <p:cNvSpPr/>
          <p:nvPr/>
        </p:nvSpPr>
        <p:spPr>
          <a:xfrm>
            <a:off x="658368" y="1896477"/>
            <a:ext cx="620976" cy="0"/>
          </a:xfrm>
          <a:prstGeom prst="line">
            <a:avLst/>
          </a:prstGeom>
          <a:noFill/>
          <a:ln w="12700">
            <a:solidFill>
              <a:srgbClr val="E21B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4"/>
          <p:cNvSpPr/>
          <p:nvPr/>
        </p:nvSpPr>
        <p:spPr>
          <a:xfrm>
            <a:off x="594360" y="6327648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640080" y="6464808"/>
            <a:ext cx="344736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MotrixLab Framework Intro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1018520" y="6419088"/>
            <a:ext cx="53035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/>
          </a:p>
        </p:txBody>
      </p:sp>
      <p:pic>
        <p:nvPicPr>
          <p:cNvPr id="11" name="Image 2" descr="/mnt/data/robot_crop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877908" y="1828800"/>
            <a:ext cx="3003451" cy="29992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78730" y="2539400"/>
            <a:ext cx="77724" cy="77724"/>
          </a:xfrm>
          <a:prstGeom prst="ellipse">
            <a:avLst/>
          </a:prstGeom>
          <a:solidFill>
            <a:srgbClr val="E21B23"/>
          </a:solidFill>
          <a:ln w="12700">
            <a:solidFill>
              <a:srgbClr val="E21B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0"/>
          <p:cNvSpPr/>
          <p:nvPr/>
        </p:nvSpPr>
        <p:spPr>
          <a:xfrm>
            <a:off x="767462" y="2459695"/>
            <a:ext cx="664676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能证明入口能运行，但不能解释任务为什么有效。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578730" y="3269314"/>
            <a:ext cx="77724" cy="77725"/>
          </a:xfrm>
          <a:prstGeom prst="ellipse">
            <a:avLst/>
          </a:prstGeom>
          <a:solidFill>
            <a:srgbClr val="E21B23"/>
          </a:solidFill>
          <a:ln w="12700">
            <a:solidFill>
              <a:srgbClr val="E21B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2"/>
          <p:cNvSpPr/>
          <p:nvPr/>
        </p:nvSpPr>
        <p:spPr>
          <a:xfrm>
            <a:off x="767462" y="2994142"/>
            <a:ext cx="7210318" cy="6492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长期需要阅读、修改和扩展的是环境、奖励、配置和训练流程。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78730" y="3999228"/>
            <a:ext cx="77724" cy="77724"/>
          </a:xfrm>
          <a:prstGeom prst="ellipse">
            <a:avLst/>
          </a:prstGeom>
          <a:solidFill>
            <a:srgbClr val="E21B23"/>
          </a:solidFill>
          <a:ln w="12700">
            <a:solidFill>
              <a:srgbClr val="E21B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4"/>
          <p:cNvSpPr/>
          <p:nvPr/>
        </p:nvSpPr>
        <p:spPr>
          <a:xfrm>
            <a:off x="780279" y="3937252"/>
            <a:ext cx="635508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不能只看 Demo 能不能运行，还要看它为什么能运行。</a:t>
            </a:r>
            <a:endParaRPr lang="en-US" sz="20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D7AB0DE-D34A-7D7E-6CCA-A4DB0E95EBB7}"/>
              </a:ext>
            </a:extLst>
          </p:cNvPr>
          <p:cNvSpPr/>
          <p:nvPr/>
        </p:nvSpPr>
        <p:spPr>
          <a:xfrm>
            <a:off x="7515909" y="2010082"/>
            <a:ext cx="1281723" cy="9074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mnt/data/motphys_logo_black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7472"/>
            <a:ext cx="1298448" cy="279400"/>
          </a:xfrm>
          <a:prstGeom prst="rect">
            <a:avLst/>
          </a:prstGeom>
        </p:spPr>
      </p:pic>
      <p:pic>
        <p:nvPicPr>
          <p:cNvPr id="4" name="Image 1" descr="/mnt/data/xbotics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92608"/>
            <a:ext cx="2057400" cy="6126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8368" y="960120"/>
            <a:ext cx="219456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58368" y="1356828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框架核心价值：解决五类问题</a:t>
            </a:r>
            <a:endParaRPr lang="en-US" sz="3200" dirty="0"/>
          </a:p>
        </p:txBody>
      </p:sp>
      <p:sp>
        <p:nvSpPr>
          <p:cNvPr id="7" name="Shape 3"/>
          <p:cNvSpPr/>
          <p:nvPr/>
        </p:nvSpPr>
        <p:spPr>
          <a:xfrm>
            <a:off x="658368" y="1951188"/>
            <a:ext cx="1051560" cy="0"/>
          </a:xfrm>
          <a:prstGeom prst="line">
            <a:avLst/>
          </a:prstGeom>
          <a:noFill/>
          <a:ln w="12700">
            <a:solidFill>
              <a:srgbClr val="E21B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4"/>
          <p:cNvSpPr/>
          <p:nvPr/>
        </p:nvSpPr>
        <p:spPr>
          <a:xfrm>
            <a:off x="594360" y="6327648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640079" y="6464808"/>
            <a:ext cx="33848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MotrixLab Framework Intro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1018520" y="6419088"/>
            <a:ext cx="53035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94944" y="2240280"/>
            <a:ext cx="1938528" cy="22860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694944" y="2240280"/>
            <a:ext cx="54864" cy="2286000"/>
          </a:xfrm>
          <a:prstGeom prst="rect">
            <a:avLst/>
          </a:prstGeom>
          <a:solidFill>
            <a:srgbClr val="E21B23"/>
          </a:solidFill>
          <a:ln w="12700">
            <a:solidFill>
              <a:srgbClr val="E21B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859536" y="2404872"/>
            <a:ext cx="4754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1380744" y="2377440"/>
            <a:ext cx="106984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环境定义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804672" y="2525776"/>
            <a:ext cx="1950720" cy="215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任务目标、观测、动作、step、reset 如何组织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2999232" y="2240280"/>
            <a:ext cx="1938528" cy="22860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3"/>
          <p:cNvSpPr/>
          <p:nvPr/>
        </p:nvSpPr>
        <p:spPr>
          <a:xfrm>
            <a:off x="2999232" y="2240280"/>
            <a:ext cx="54864" cy="2286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3163824" y="2404872"/>
            <a:ext cx="4754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3685032" y="2377440"/>
            <a:ext cx="106984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奖励设计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3108960" y="2573645"/>
            <a:ext cx="1901952" cy="2032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多个奖励项如何计算、组合、调权重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303520" y="2240280"/>
            <a:ext cx="1938528" cy="22860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8"/>
          <p:cNvSpPr/>
          <p:nvPr/>
        </p:nvSpPr>
        <p:spPr>
          <a:xfrm>
            <a:off x="5303520" y="2240280"/>
            <a:ext cx="54864" cy="2286000"/>
          </a:xfrm>
          <a:prstGeom prst="rect">
            <a:avLst/>
          </a:prstGeom>
          <a:solidFill>
            <a:srgbClr val="F43F46"/>
          </a:solidFill>
          <a:ln w="12700">
            <a:solidFill>
              <a:srgbClr val="F43F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9"/>
          <p:cNvSpPr/>
          <p:nvPr/>
        </p:nvSpPr>
        <p:spPr>
          <a:xfrm>
            <a:off x="5468112" y="2404872"/>
            <a:ext cx="4754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3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5989320" y="2377440"/>
            <a:ext cx="106984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配置管理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5422393" y="2589276"/>
            <a:ext cx="1901951" cy="2032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仿真参数、任务参数、训练参数如何集中管理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7607808" y="2240280"/>
            <a:ext cx="1938528" cy="22860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3"/>
          <p:cNvSpPr/>
          <p:nvPr/>
        </p:nvSpPr>
        <p:spPr>
          <a:xfrm>
            <a:off x="7607808" y="2240280"/>
            <a:ext cx="54864" cy="22860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4"/>
          <p:cNvSpPr/>
          <p:nvPr/>
        </p:nvSpPr>
        <p:spPr>
          <a:xfrm>
            <a:off x="7772400" y="2404872"/>
            <a:ext cx="4754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8293608" y="2377440"/>
            <a:ext cx="106984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注册机制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7708392" y="2589276"/>
            <a:ext cx="1810512" cy="2032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通过环境名找到对应配置和环境实现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9912096" y="2240280"/>
            <a:ext cx="1938528" cy="22860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8"/>
          <p:cNvSpPr/>
          <p:nvPr/>
        </p:nvSpPr>
        <p:spPr>
          <a:xfrm>
            <a:off x="9912096" y="2240280"/>
            <a:ext cx="54864" cy="2286000"/>
          </a:xfrm>
          <a:prstGeom prst="rect">
            <a:avLst/>
          </a:prstGeom>
          <a:solidFill>
            <a:srgbClr val="E21B23"/>
          </a:solidFill>
          <a:ln w="12700">
            <a:solidFill>
              <a:srgbClr val="E21B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9"/>
          <p:cNvSpPr/>
          <p:nvPr/>
        </p:nvSpPr>
        <p:spPr>
          <a:xfrm>
            <a:off x="10076688" y="2404872"/>
            <a:ext cx="4754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34" name="Text 30"/>
          <p:cNvSpPr/>
          <p:nvPr/>
        </p:nvSpPr>
        <p:spPr>
          <a:xfrm>
            <a:off x="10597896" y="2377440"/>
            <a:ext cx="106984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训练入口</a:t>
            </a:r>
            <a:endParaRPr lang="en-US" sz="2000" dirty="0"/>
          </a:p>
        </p:txBody>
      </p:sp>
      <p:sp>
        <p:nvSpPr>
          <p:cNvPr id="35" name="Text 31"/>
          <p:cNvSpPr/>
          <p:nvPr/>
        </p:nvSpPr>
        <p:spPr>
          <a:xfrm>
            <a:off x="10033860" y="2540000"/>
            <a:ext cx="1810512" cy="2032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命令行参数如何进入 Trainer、Env 和 RL 配置</a:t>
            </a:r>
            <a:endParaRPr lang="en-US" sz="2000" dirty="0"/>
          </a:p>
        </p:txBody>
      </p:sp>
      <p:sp>
        <p:nvSpPr>
          <p:cNvPr id="36" name="Shape 32"/>
          <p:cNvSpPr/>
          <p:nvPr/>
        </p:nvSpPr>
        <p:spPr>
          <a:xfrm>
            <a:off x="2057400" y="5303520"/>
            <a:ext cx="8101584" cy="530352"/>
          </a:xfrm>
          <a:prstGeom prst="roundRect">
            <a:avLst>
              <a:gd name="adj" fmla="val 13793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3"/>
          <p:cNvSpPr/>
          <p:nvPr/>
        </p:nvSpPr>
        <p:spPr>
          <a:xfrm>
            <a:off x="2322576" y="5455140"/>
            <a:ext cx="757123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目标：让任务、信号、参数、映射关系和训练流程各归其位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mnt/data/motphys_logo_black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7472"/>
            <a:ext cx="1298448" cy="279400"/>
          </a:xfrm>
          <a:prstGeom prst="rect">
            <a:avLst/>
          </a:prstGeom>
        </p:spPr>
      </p:pic>
      <p:pic>
        <p:nvPicPr>
          <p:cNvPr id="4" name="Image 1" descr="/mnt/data/xbotics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92608"/>
            <a:ext cx="2057400" cy="6126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8368" y="960120"/>
            <a:ext cx="219456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RESPONSIBILITY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58368" y="1287212"/>
            <a:ext cx="8961120" cy="559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一句话理解各模块职责</a:t>
            </a:r>
            <a:endParaRPr lang="en-US" sz="3200" dirty="0"/>
          </a:p>
        </p:txBody>
      </p:sp>
      <p:sp>
        <p:nvSpPr>
          <p:cNvPr id="7" name="Shape 3"/>
          <p:cNvSpPr/>
          <p:nvPr/>
        </p:nvSpPr>
        <p:spPr>
          <a:xfrm>
            <a:off x="658368" y="1951185"/>
            <a:ext cx="1051560" cy="0"/>
          </a:xfrm>
          <a:prstGeom prst="line">
            <a:avLst/>
          </a:prstGeom>
          <a:noFill/>
          <a:ln w="12700">
            <a:solidFill>
              <a:srgbClr val="E21B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4"/>
          <p:cNvSpPr/>
          <p:nvPr/>
        </p:nvSpPr>
        <p:spPr>
          <a:xfrm>
            <a:off x="594360" y="6327648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640079" y="6464808"/>
            <a:ext cx="34317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MotrixLab Framework Intro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1018520" y="6419088"/>
            <a:ext cx="53035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58368" y="2514600"/>
            <a:ext cx="187452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21B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749808" y="2788920"/>
            <a:ext cx="169164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环境模块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68096" y="3182112"/>
            <a:ext cx="16459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定义任务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2532888" y="3072384"/>
            <a:ext cx="301752" cy="0"/>
          </a:xfrm>
          <a:prstGeom prst="line">
            <a:avLst/>
          </a:prstGeom>
          <a:noFill/>
          <a:ln w="12700">
            <a:solidFill>
              <a:srgbClr val="E21B23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1"/>
          <p:cNvSpPr/>
          <p:nvPr/>
        </p:nvSpPr>
        <p:spPr>
          <a:xfrm>
            <a:off x="2944368" y="2514600"/>
            <a:ext cx="187452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2"/>
          <p:cNvSpPr/>
          <p:nvPr/>
        </p:nvSpPr>
        <p:spPr>
          <a:xfrm>
            <a:off x="3035808" y="2788920"/>
            <a:ext cx="169164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奖励模块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054096" y="3182112"/>
            <a:ext cx="16459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生成学习信号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4818888" y="3072384"/>
            <a:ext cx="301752" cy="0"/>
          </a:xfrm>
          <a:prstGeom prst="line">
            <a:avLst/>
          </a:prstGeom>
          <a:noFill/>
          <a:ln w="12700">
            <a:solidFill>
              <a:srgbClr val="E21B23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5"/>
          <p:cNvSpPr/>
          <p:nvPr/>
        </p:nvSpPr>
        <p:spPr>
          <a:xfrm>
            <a:off x="5230368" y="2514600"/>
            <a:ext cx="187452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F43F4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6"/>
          <p:cNvSpPr/>
          <p:nvPr/>
        </p:nvSpPr>
        <p:spPr>
          <a:xfrm>
            <a:off x="5321808" y="2788920"/>
            <a:ext cx="169164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配置模块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5340096" y="3182112"/>
            <a:ext cx="16459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管理参数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7104888" y="3072384"/>
            <a:ext cx="301752" cy="0"/>
          </a:xfrm>
          <a:prstGeom prst="line">
            <a:avLst/>
          </a:prstGeom>
          <a:noFill/>
          <a:ln w="12700">
            <a:solidFill>
              <a:srgbClr val="E21B23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9"/>
          <p:cNvSpPr/>
          <p:nvPr/>
        </p:nvSpPr>
        <p:spPr>
          <a:xfrm>
            <a:off x="7516368" y="2514600"/>
            <a:ext cx="187452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0"/>
          <p:cNvSpPr/>
          <p:nvPr/>
        </p:nvSpPr>
        <p:spPr>
          <a:xfrm>
            <a:off x="7607808" y="2788920"/>
            <a:ext cx="169164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注册模块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626096" y="3182112"/>
            <a:ext cx="16459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建立名字到实现的映射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9390888" y="3072384"/>
            <a:ext cx="301752" cy="0"/>
          </a:xfrm>
          <a:prstGeom prst="line">
            <a:avLst/>
          </a:prstGeom>
          <a:noFill/>
          <a:ln w="12700">
            <a:solidFill>
              <a:srgbClr val="E21B23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3"/>
          <p:cNvSpPr/>
          <p:nvPr/>
        </p:nvSpPr>
        <p:spPr>
          <a:xfrm>
            <a:off x="9802368" y="2514600"/>
            <a:ext cx="187452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21B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4"/>
          <p:cNvSpPr/>
          <p:nvPr/>
        </p:nvSpPr>
        <p:spPr>
          <a:xfrm>
            <a:off x="9893808" y="2788920"/>
            <a:ext cx="169164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训练入口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9912096" y="3182112"/>
            <a:ext cx="16459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47500" lnSpcReduction="2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串联任务、配置、算法和日志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1554480" y="4892040"/>
            <a:ext cx="9098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核心原则：复用框架约定，不要把逻辑散落到临时脚本里。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mnt/data/motphys_logo_black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7472"/>
            <a:ext cx="1298448" cy="279400"/>
          </a:xfrm>
          <a:prstGeom prst="rect">
            <a:avLst/>
          </a:prstGeom>
        </p:spPr>
      </p:pic>
      <p:pic>
        <p:nvPicPr>
          <p:cNvPr id="4" name="Image 1" descr="/mnt/data/xbotics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92608"/>
            <a:ext cx="2057400" cy="6126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8368" y="960120"/>
            <a:ext cx="219456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58368" y="1356824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典型使用场景</a:t>
            </a:r>
            <a:endParaRPr lang="en-US" sz="3200" dirty="0"/>
          </a:p>
        </p:txBody>
      </p:sp>
      <p:sp>
        <p:nvSpPr>
          <p:cNvPr id="7" name="Shape 3"/>
          <p:cNvSpPr/>
          <p:nvPr/>
        </p:nvSpPr>
        <p:spPr>
          <a:xfrm>
            <a:off x="658368" y="1951184"/>
            <a:ext cx="1051560" cy="0"/>
          </a:xfrm>
          <a:prstGeom prst="line">
            <a:avLst/>
          </a:prstGeom>
          <a:noFill/>
          <a:ln w="12700">
            <a:solidFill>
              <a:srgbClr val="E21B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4"/>
          <p:cNvSpPr/>
          <p:nvPr/>
        </p:nvSpPr>
        <p:spPr>
          <a:xfrm>
            <a:off x="594360" y="6327648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640080" y="6464808"/>
            <a:ext cx="34708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MotrixLab Framework Intro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1018520" y="6419088"/>
            <a:ext cx="53035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822960" y="2378999"/>
            <a:ext cx="5059680" cy="154127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822960" y="2378999"/>
            <a:ext cx="76200" cy="1541272"/>
          </a:xfrm>
          <a:prstGeom prst="rect">
            <a:avLst/>
          </a:prstGeom>
          <a:solidFill>
            <a:srgbClr val="E21B23"/>
          </a:solidFill>
          <a:ln w="12700">
            <a:solidFill>
              <a:srgbClr val="E21B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1024128" y="2525303"/>
            <a:ext cx="457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学习和教学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1024128" y="2881919"/>
            <a:ext cx="4782312" cy="101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用已有任务理解机器人 RL 项目的基本拆分方式。重点看环境如何写、奖励如何设计、配置如何生效、训练如何启动。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309360" y="2378999"/>
            <a:ext cx="5059680" cy="15189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2"/>
          <p:cNvSpPr/>
          <p:nvPr/>
        </p:nvSpPr>
        <p:spPr>
          <a:xfrm>
            <a:off x="6309360" y="2378998"/>
            <a:ext cx="76200" cy="154127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3"/>
          <p:cNvSpPr/>
          <p:nvPr/>
        </p:nvSpPr>
        <p:spPr>
          <a:xfrm>
            <a:off x="6510528" y="2525303"/>
            <a:ext cx="457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复现和分析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510528" y="2881919"/>
            <a:ext cx="4581144" cy="101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先跑通官方 Demo，再拆解任务目标、观测、动作、奖励和终止条件。关键是理解为什么能运行。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822960" y="4436399"/>
            <a:ext cx="5059680" cy="154127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6"/>
          <p:cNvSpPr/>
          <p:nvPr/>
        </p:nvSpPr>
        <p:spPr>
          <a:xfrm>
            <a:off x="822960" y="4436399"/>
            <a:ext cx="54864" cy="1541272"/>
          </a:xfrm>
          <a:prstGeom prst="rect">
            <a:avLst/>
          </a:prstGeom>
          <a:solidFill>
            <a:srgbClr val="F43F46"/>
          </a:solidFill>
          <a:ln w="12700">
            <a:solidFill>
              <a:srgbClr val="F43F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7"/>
          <p:cNvSpPr/>
          <p:nvPr/>
        </p:nvSpPr>
        <p:spPr>
          <a:xfrm>
            <a:off x="1024128" y="4582703"/>
            <a:ext cx="457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任务改造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1024128" y="4939319"/>
            <a:ext cx="4782312" cy="101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在已有任务上修改奖励项、目标位置、动作尺度、终止条件和训练超参，适合 A/B 实验。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6309360" y="4436399"/>
            <a:ext cx="5059680" cy="154127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0"/>
          <p:cNvSpPr/>
          <p:nvPr/>
        </p:nvSpPr>
        <p:spPr>
          <a:xfrm>
            <a:off x="6309360" y="4436399"/>
            <a:ext cx="76200" cy="15189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1"/>
          <p:cNvSpPr/>
          <p:nvPr/>
        </p:nvSpPr>
        <p:spPr>
          <a:xfrm>
            <a:off x="6510528" y="4582703"/>
            <a:ext cx="457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新任务开发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6510528" y="4939319"/>
            <a:ext cx="4581144" cy="101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EnvCfg、Env、Reward、registry 模式，注册新的环境名和配置类。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mnt/data/motphys_logo_black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7472"/>
            <a:ext cx="1298448" cy="279400"/>
          </a:xfrm>
          <a:prstGeom prst="rect">
            <a:avLst/>
          </a:prstGeom>
        </p:spPr>
      </p:pic>
      <p:pic>
        <p:nvPicPr>
          <p:cNvPr id="4" name="Image 1" descr="/mnt/data/xbotics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92608"/>
            <a:ext cx="2057400" cy="6126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8368" y="928860"/>
            <a:ext cx="219456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58368" y="1309932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推荐阅读顺序</a:t>
            </a:r>
            <a:endParaRPr lang="en-US" sz="3200" dirty="0"/>
          </a:p>
        </p:txBody>
      </p:sp>
      <p:sp>
        <p:nvSpPr>
          <p:cNvPr id="7" name="Shape 3"/>
          <p:cNvSpPr/>
          <p:nvPr/>
        </p:nvSpPr>
        <p:spPr>
          <a:xfrm>
            <a:off x="658368" y="1904292"/>
            <a:ext cx="1051560" cy="0"/>
          </a:xfrm>
          <a:prstGeom prst="line">
            <a:avLst/>
          </a:prstGeom>
          <a:noFill/>
          <a:ln w="12700">
            <a:solidFill>
              <a:srgbClr val="E21B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4"/>
          <p:cNvSpPr/>
          <p:nvPr/>
        </p:nvSpPr>
        <p:spPr>
          <a:xfrm>
            <a:off x="594360" y="6327648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640079" y="6464808"/>
            <a:ext cx="346299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MotrixLab Framework Intro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1018520" y="6419088"/>
            <a:ext cx="53035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914400" y="2272080"/>
            <a:ext cx="438912" cy="438912"/>
          </a:xfrm>
          <a:prstGeom prst="ellipse">
            <a:avLst/>
          </a:prstGeom>
          <a:solidFill>
            <a:srgbClr val="E21B23"/>
          </a:solidFill>
          <a:ln w="12700">
            <a:solidFill>
              <a:srgbClr val="E21B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978408" y="2371494"/>
            <a:ext cx="310896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536192" y="2217216"/>
            <a:ext cx="429768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找入口脚本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1536192" y="2582976"/>
            <a:ext cx="4343400" cy="3302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 / play / view 相关脚本</a:t>
            </a: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1133856" y="2747568"/>
            <a:ext cx="0" cy="61264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2"/>
          <p:cNvSpPr/>
          <p:nvPr/>
        </p:nvSpPr>
        <p:spPr>
          <a:xfrm>
            <a:off x="914400" y="3506520"/>
            <a:ext cx="438912" cy="43891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3"/>
          <p:cNvSpPr/>
          <p:nvPr/>
        </p:nvSpPr>
        <p:spPr>
          <a:xfrm>
            <a:off x="978408" y="3605934"/>
            <a:ext cx="310896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1536192" y="3451656"/>
            <a:ext cx="429768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看注册系统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1536192" y="3817416"/>
            <a:ext cx="434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环境名如何映射到 EnvCfg、Env、RLCfg</a:t>
            </a:r>
            <a:endParaRPr lang="en-US" dirty="0"/>
          </a:p>
        </p:txBody>
      </p:sp>
      <p:sp>
        <p:nvSpPr>
          <p:cNvPr id="20" name="Shape 16"/>
          <p:cNvSpPr/>
          <p:nvPr/>
        </p:nvSpPr>
        <p:spPr>
          <a:xfrm>
            <a:off x="1133856" y="3982008"/>
            <a:ext cx="0" cy="61264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7"/>
          <p:cNvSpPr/>
          <p:nvPr/>
        </p:nvSpPr>
        <p:spPr>
          <a:xfrm>
            <a:off x="914400" y="4740960"/>
            <a:ext cx="438912" cy="438912"/>
          </a:xfrm>
          <a:prstGeom prst="ellipse">
            <a:avLst/>
          </a:prstGeom>
          <a:solidFill>
            <a:srgbClr val="F43F46"/>
          </a:solidFill>
          <a:ln w="12700">
            <a:solidFill>
              <a:srgbClr val="F43F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8"/>
          <p:cNvSpPr/>
          <p:nvPr/>
        </p:nvSpPr>
        <p:spPr>
          <a:xfrm>
            <a:off x="978408" y="4840374"/>
            <a:ext cx="310896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1536192" y="4686096"/>
            <a:ext cx="429768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EnvCfg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1536192" y="5051856"/>
            <a:ext cx="434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任务和仿真参数在哪里定义</a:t>
            </a:r>
            <a:endParaRPr lang="en-US" dirty="0"/>
          </a:p>
        </p:txBody>
      </p:sp>
      <p:sp>
        <p:nvSpPr>
          <p:cNvPr id="25" name="Shape 21"/>
          <p:cNvSpPr/>
          <p:nvPr/>
        </p:nvSpPr>
        <p:spPr>
          <a:xfrm>
            <a:off x="6400800" y="2272080"/>
            <a:ext cx="438912" cy="438912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2"/>
          <p:cNvSpPr/>
          <p:nvPr/>
        </p:nvSpPr>
        <p:spPr>
          <a:xfrm>
            <a:off x="6464808" y="2371494"/>
            <a:ext cx="310896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7022592" y="2217216"/>
            <a:ext cx="429768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Env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7022591" y="2582975"/>
            <a:ext cx="4864605" cy="5531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动作如何进入环境、仿真如何推进、观测如何返回</a:t>
            </a:r>
            <a:endParaRPr lang="en-US" dirty="0"/>
          </a:p>
        </p:txBody>
      </p:sp>
      <p:sp>
        <p:nvSpPr>
          <p:cNvPr id="29" name="Shape 25"/>
          <p:cNvSpPr/>
          <p:nvPr/>
        </p:nvSpPr>
        <p:spPr>
          <a:xfrm>
            <a:off x="6620256" y="2747568"/>
            <a:ext cx="0" cy="61264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6"/>
          <p:cNvSpPr/>
          <p:nvPr/>
        </p:nvSpPr>
        <p:spPr>
          <a:xfrm>
            <a:off x="6400800" y="3506520"/>
            <a:ext cx="438912" cy="438912"/>
          </a:xfrm>
          <a:prstGeom prst="ellipse">
            <a:avLst/>
          </a:prstGeom>
          <a:solidFill>
            <a:srgbClr val="E21B23"/>
          </a:solidFill>
          <a:ln w="12700">
            <a:solidFill>
              <a:srgbClr val="E21B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7"/>
          <p:cNvSpPr/>
          <p:nvPr/>
        </p:nvSpPr>
        <p:spPr>
          <a:xfrm>
            <a:off x="6464808" y="3605934"/>
            <a:ext cx="310896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7022592" y="3451656"/>
            <a:ext cx="429768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Reward</a:t>
            </a:r>
            <a:endParaRPr lang="en-US" sz="2000" dirty="0"/>
          </a:p>
        </p:txBody>
      </p:sp>
      <p:sp>
        <p:nvSpPr>
          <p:cNvPr id="33" name="Text 29"/>
          <p:cNvSpPr/>
          <p:nvPr/>
        </p:nvSpPr>
        <p:spPr>
          <a:xfrm>
            <a:off x="7022592" y="3817416"/>
            <a:ext cx="434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奖励项如何计算和组合</a:t>
            </a:r>
            <a:endParaRPr lang="en-US" dirty="0"/>
          </a:p>
        </p:txBody>
      </p:sp>
      <p:sp>
        <p:nvSpPr>
          <p:cNvPr id="34" name="Shape 30"/>
          <p:cNvSpPr/>
          <p:nvPr/>
        </p:nvSpPr>
        <p:spPr>
          <a:xfrm>
            <a:off x="6620256" y="3982008"/>
            <a:ext cx="0" cy="61264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1"/>
          <p:cNvSpPr/>
          <p:nvPr/>
        </p:nvSpPr>
        <p:spPr>
          <a:xfrm>
            <a:off x="6400800" y="4740960"/>
            <a:ext cx="438912" cy="43891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2"/>
          <p:cNvSpPr/>
          <p:nvPr/>
        </p:nvSpPr>
        <p:spPr>
          <a:xfrm>
            <a:off x="6464808" y="4840374"/>
            <a:ext cx="310896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3"/>
          <p:cNvSpPr/>
          <p:nvPr/>
        </p:nvSpPr>
        <p:spPr>
          <a:xfrm>
            <a:off x="7022592" y="4686096"/>
            <a:ext cx="429768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RL 配置</a:t>
            </a:r>
            <a:endParaRPr lang="en-US" sz="2000" dirty="0"/>
          </a:p>
        </p:txBody>
      </p:sp>
      <p:sp>
        <p:nvSpPr>
          <p:cNvPr id="38" name="Text 34"/>
          <p:cNvSpPr/>
          <p:nvPr/>
        </p:nvSpPr>
        <p:spPr>
          <a:xfrm>
            <a:off x="7022591" y="5051856"/>
            <a:ext cx="4974023" cy="315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num_envs、rollouts、learning_rate、网络结构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2852928" y="5554776"/>
            <a:ext cx="6492240" cy="549270"/>
          </a:xfrm>
          <a:prstGeom prst="roundRect">
            <a:avLst>
              <a:gd name="adj" fmla="val 13636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6"/>
          <p:cNvSpPr/>
          <p:nvPr/>
        </p:nvSpPr>
        <p:spPr>
          <a:xfrm>
            <a:off x="3108960" y="5713828"/>
            <a:ext cx="59893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不要一开始逐行读所有代码；先建立模块地图。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mnt/data/motphys_logo_black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7472"/>
            <a:ext cx="1298448" cy="279400"/>
          </a:xfrm>
          <a:prstGeom prst="rect">
            <a:avLst/>
          </a:prstGeom>
        </p:spPr>
      </p:pic>
      <p:pic>
        <p:nvPicPr>
          <p:cNvPr id="4" name="Image 1" descr="/mnt/data/xbotics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92608"/>
            <a:ext cx="2057400" cy="6126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8368" y="960120"/>
            <a:ext cx="219456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CHECKLIST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58368" y="1403720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读完一个任务后，应该能回答什么？</a:t>
            </a:r>
            <a:endParaRPr lang="en-US" sz="3200" dirty="0"/>
          </a:p>
        </p:txBody>
      </p:sp>
      <p:sp>
        <p:nvSpPr>
          <p:cNvPr id="7" name="Shape 3"/>
          <p:cNvSpPr/>
          <p:nvPr/>
        </p:nvSpPr>
        <p:spPr>
          <a:xfrm>
            <a:off x="658368" y="1998080"/>
            <a:ext cx="1051560" cy="0"/>
          </a:xfrm>
          <a:prstGeom prst="line">
            <a:avLst/>
          </a:prstGeom>
          <a:noFill/>
          <a:ln w="12700">
            <a:solidFill>
              <a:srgbClr val="E21B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4"/>
          <p:cNvSpPr/>
          <p:nvPr/>
        </p:nvSpPr>
        <p:spPr>
          <a:xfrm>
            <a:off x="594360" y="6327648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640079" y="6464808"/>
            <a:ext cx="333795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MotrixLab Framework Intro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1018520" y="6419088"/>
            <a:ext cx="53035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841248" y="2615809"/>
            <a:ext cx="50749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1005840" y="2816977"/>
            <a:ext cx="91440" cy="91440"/>
          </a:xfrm>
          <a:prstGeom prst="ellipse">
            <a:avLst/>
          </a:prstGeom>
          <a:solidFill>
            <a:srgbClr val="E21B23"/>
          </a:solidFill>
          <a:ln w="12700">
            <a:solidFill>
              <a:srgbClr val="E21B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1252728" y="2681305"/>
            <a:ext cx="4443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入口在哪里？  训练 / 推理 / 可视化如何启动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6236208" y="2615809"/>
            <a:ext cx="50749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1"/>
          <p:cNvSpPr/>
          <p:nvPr/>
        </p:nvSpPr>
        <p:spPr>
          <a:xfrm>
            <a:off x="6400800" y="2816977"/>
            <a:ext cx="91440" cy="9144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E21B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2"/>
          <p:cNvSpPr/>
          <p:nvPr/>
        </p:nvSpPr>
        <p:spPr>
          <a:xfrm>
            <a:off x="6647688" y="2681305"/>
            <a:ext cx="46634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名字如何映射? 环境名如何找到 EnvCfg、Env、RLCfg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41248" y="3438769"/>
            <a:ext cx="50749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4"/>
          <p:cNvSpPr/>
          <p:nvPr/>
        </p:nvSpPr>
        <p:spPr>
          <a:xfrm>
            <a:off x="1005840" y="3639937"/>
            <a:ext cx="91440" cy="91440"/>
          </a:xfrm>
          <a:prstGeom prst="ellipse">
            <a:avLst/>
          </a:prstGeom>
          <a:solidFill>
            <a:srgbClr val="E21B23"/>
          </a:solidFill>
          <a:ln w="12700">
            <a:solidFill>
              <a:srgbClr val="E21B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5"/>
          <p:cNvSpPr/>
          <p:nvPr/>
        </p:nvSpPr>
        <p:spPr>
          <a:xfrm>
            <a:off x="1252728" y="3504265"/>
            <a:ext cx="4443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参数在哪里？  任务、仿真、训练参数来源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236208" y="3438769"/>
            <a:ext cx="50749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7"/>
          <p:cNvSpPr/>
          <p:nvPr/>
        </p:nvSpPr>
        <p:spPr>
          <a:xfrm>
            <a:off x="6400800" y="3639937"/>
            <a:ext cx="91440" cy="9144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E21B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8"/>
          <p:cNvSpPr/>
          <p:nvPr/>
        </p:nvSpPr>
        <p:spPr>
          <a:xfrm>
            <a:off x="6647688" y="3504265"/>
            <a:ext cx="4443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动作如何执行？  策略输出如何变成控制量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841248" y="4261729"/>
            <a:ext cx="50749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0"/>
          <p:cNvSpPr/>
          <p:nvPr/>
        </p:nvSpPr>
        <p:spPr>
          <a:xfrm>
            <a:off x="1005840" y="4462897"/>
            <a:ext cx="91440" cy="91440"/>
          </a:xfrm>
          <a:prstGeom prst="ellipse">
            <a:avLst/>
          </a:prstGeom>
          <a:solidFill>
            <a:srgbClr val="E21B23"/>
          </a:solidFill>
          <a:ln w="12700">
            <a:solidFill>
              <a:srgbClr val="E21B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1"/>
          <p:cNvSpPr/>
          <p:nvPr/>
        </p:nvSpPr>
        <p:spPr>
          <a:xfrm>
            <a:off x="1252728" y="4327225"/>
            <a:ext cx="4443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观测如何返回？  智能体每一步看到哪些信息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6236208" y="4261729"/>
            <a:ext cx="50749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3"/>
          <p:cNvSpPr/>
          <p:nvPr/>
        </p:nvSpPr>
        <p:spPr>
          <a:xfrm>
            <a:off x="6400800" y="4462897"/>
            <a:ext cx="91440" cy="9144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E21B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4"/>
          <p:cNvSpPr/>
          <p:nvPr/>
        </p:nvSpPr>
        <p:spPr>
          <a:xfrm>
            <a:off x="6647688" y="4327225"/>
            <a:ext cx="4443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奖励如何构成？  每个奖励项的计算方式和权重</a:t>
            </a:r>
            <a:endParaRPr lang="en-US" sz="2000" dirty="0"/>
          </a:p>
        </p:txBody>
      </p:sp>
      <p:sp>
        <p:nvSpPr>
          <p:cNvPr id="29" name="Shape 25"/>
          <p:cNvSpPr/>
          <p:nvPr/>
        </p:nvSpPr>
        <p:spPr>
          <a:xfrm>
            <a:off x="841248" y="5084689"/>
            <a:ext cx="50749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6"/>
          <p:cNvSpPr/>
          <p:nvPr/>
        </p:nvSpPr>
        <p:spPr>
          <a:xfrm>
            <a:off x="1005840" y="5285857"/>
            <a:ext cx="91440" cy="91440"/>
          </a:xfrm>
          <a:prstGeom prst="ellipse">
            <a:avLst/>
          </a:prstGeom>
          <a:solidFill>
            <a:srgbClr val="E21B23"/>
          </a:solidFill>
          <a:ln w="12700">
            <a:solidFill>
              <a:srgbClr val="E21B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7"/>
          <p:cNvSpPr/>
          <p:nvPr/>
        </p:nvSpPr>
        <p:spPr>
          <a:xfrm>
            <a:off x="1252728" y="5150185"/>
            <a:ext cx="4443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什么时候终止？  成功、失败、超时、摔倒、越界</a:t>
            </a:r>
            <a:endParaRPr lang="en-US" sz="2000" dirty="0"/>
          </a:p>
        </p:txBody>
      </p:sp>
      <p:sp>
        <p:nvSpPr>
          <p:cNvPr id="32" name="Shape 28"/>
          <p:cNvSpPr/>
          <p:nvPr/>
        </p:nvSpPr>
        <p:spPr>
          <a:xfrm>
            <a:off x="6236208" y="5084689"/>
            <a:ext cx="50749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9"/>
          <p:cNvSpPr/>
          <p:nvPr/>
        </p:nvSpPr>
        <p:spPr>
          <a:xfrm>
            <a:off x="6400800" y="5285857"/>
            <a:ext cx="91440" cy="9144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E21B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0"/>
          <p:cNvSpPr/>
          <p:nvPr/>
        </p:nvSpPr>
        <p:spPr>
          <a:xfrm>
            <a:off x="6647688" y="5150185"/>
            <a:ext cx="4443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结果如何复现？  日志、权重、Demo 与评估方式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mnt/data/motphys_logo_black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7472"/>
            <a:ext cx="1298448" cy="279400"/>
          </a:xfrm>
          <a:prstGeom prst="rect">
            <a:avLst/>
          </a:prstGeom>
        </p:spPr>
      </p:pic>
      <p:pic>
        <p:nvPicPr>
          <p:cNvPr id="4" name="Image 1" descr="/mnt/data/xbotics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92608"/>
            <a:ext cx="2057400" cy="6126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8368" y="960120"/>
            <a:ext cx="219456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58368" y="1372464"/>
            <a:ext cx="8961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总结：MotrixLab 的学习重点</a:t>
            </a:r>
            <a:endParaRPr lang="en-US" sz="3200" dirty="0"/>
          </a:p>
        </p:txBody>
      </p:sp>
      <p:sp>
        <p:nvSpPr>
          <p:cNvPr id="7" name="Shape 3"/>
          <p:cNvSpPr/>
          <p:nvPr/>
        </p:nvSpPr>
        <p:spPr>
          <a:xfrm>
            <a:off x="658368" y="1966824"/>
            <a:ext cx="1051560" cy="0"/>
          </a:xfrm>
          <a:prstGeom prst="line">
            <a:avLst/>
          </a:prstGeom>
          <a:noFill/>
          <a:ln w="12700">
            <a:solidFill>
              <a:srgbClr val="E21B2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4"/>
          <p:cNvSpPr/>
          <p:nvPr/>
        </p:nvSpPr>
        <p:spPr>
          <a:xfrm>
            <a:off x="594360" y="6327648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640080" y="6464808"/>
            <a:ext cx="34930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MotrixLab Framework Intro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1018520" y="6419088"/>
            <a:ext cx="53035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914400" y="2916234"/>
            <a:ext cx="3218688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8"/>
          <p:cNvSpPr/>
          <p:nvPr/>
        </p:nvSpPr>
        <p:spPr>
          <a:xfrm>
            <a:off x="914400" y="2916234"/>
            <a:ext cx="54864" cy="1645920"/>
          </a:xfrm>
          <a:prstGeom prst="rect">
            <a:avLst/>
          </a:prstGeom>
          <a:solidFill>
            <a:srgbClr val="E21B23"/>
          </a:solidFill>
          <a:ln w="12700">
            <a:solidFill>
              <a:srgbClr val="E21B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1078992" y="3080826"/>
            <a:ext cx="4754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1B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1600200" y="3053394"/>
            <a:ext cx="23500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先理解工程组织方式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115568" y="3419154"/>
            <a:ext cx="2816352" cy="127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 RL 项目难维护的重点是架构关系，而不只是公式或单个脚本。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645152" y="2916234"/>
            <a:ext cx="3218688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3"/>
          <p:cNvSpPr/>
          <p:nvPr/>
        </p:nvSpPr>
        <p:spPr>
          <a:xfrm>
            <a:off x="4645152" y="2916234"/>
            <a:ext cx="54864" cy="1645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4809744" y="3080826"/>
            <a:ext cx="4754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5330952" y="3053394"/>
            <a:ext cx="23500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之后要拆模块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4846320" y="3419154"/>
            <a:ext cx="2816352" cy="127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真正需要长期阅读、修改和扩展的是环境、奖励、配置和训练流程。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8375904" y="2916234"/>
            <a:ext cx="3218688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8"/>
          <p:cNvSpPr/>
          <p:nvPr/>
        </p:nvSpPr>
        <p:spPr>
          <a:xfrm>
            <a:off x="8375904" y="2916234"/>
            <a:ext cx="54864" cy="1645920"/>
          </a:xfrm>
          <a:prstGeom prst="rect">
            <a:avLst/>
          </a:prstGeom>
          <a:solidFill>
            <a:srgbClr val="F43F46"/>
          </a:solidFill>
          <a:ln w="12700">
            <a:solidFill>
              <a:srgbClr val="F43F4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9"/>
          <p:cNvSpPr/>
          <p:nvPr/>
        </p:nvSpPr>
        <p:spPr>
          <a:xfrm>
            <a:off x="8540496" y="3080826"/>
            <a:ext cx="4754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3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9061704" y="3053394"/>
            <a:ext cx="23500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按路径建立代码地图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8577072" y="3419154"/>
            <a:ext cx="2816352" cy="127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入口脚本 → 注册系统 → EnvCfg → Env → Reward → RL 配置。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723</Words>
  <Application>Microsoft Office PowerPoint</Application>
  <PresentationFormat>宽屏</PresentationFormat>
  <Paragraphs>195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MotrixLab 框架介绍</dc:title>
  <dc:subject>MotrixLab 框架介绍</dc:subject>
  <dc:creator>OpenAI</dc:creator>
  <cp:lastModifiedBy>YANG ZENG</cp:lastModifiedBy>
  <cp:revision>3</cp:revision>
  <dcterms:created xsi:type="dcterms:W3CDTF">2026-05-10T01:46:10Z</dcterms:created>
  <dcterms:modified xsi:type="dcterms:W3CDTF">2026-05-11T11:35:06Z</dcterms:modified>
</cp:coreProperties>
</file>