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2" r:id="rId3"/>
    <p:sldId id="282" r:id="rId5"/>
    <p:sldId id="292" r:id="rId6"/>
    <p:sldId id="29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65" r:id="rId16"/>
    <p:sldId id="28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4.0 </a:t>
            </a:r>
            <a:r>
              <a:rPr kumimoji="1" lang="zh-CN" altLang="en-US" dirty="0"/>
              <a:t>面向投资机构，改版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CF8CD2-C79C-4B6D-9D81-639FC18DFB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651000" y="7016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34.png"/><Relationship Id="rId15" Type="http://schemas.openxmlformats.org/officeDocument/2006/relationships/image" Target="../media/image33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47.png"/><Relationship Id="rId12" Type="http://schemas.openxmlformats.org/officeDocument/2006/relationships/image" Target="../media/image46.png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36.png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60.png"/><Relationship Id="rId15" Type="http://schemas.openxmlformats.org/officeDocument/2006/relationships/image" Target="../media/image59.png"/><Relationship Id="rId14" Type="http://schemas.openxmlformats.org/officeDocument/2006/relationships/image" Target="../media/image58.png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43.png"/><Relationship Id="rId10" Type="http://schemas.openxmlformats.org/officeDocument/2006/relationships/image" Target="../media/image55.png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36.pn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70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png"/><Relationship Id="rId8" Type="http://schemas.openxmlformats.org/officeDocument/2006/relationships/image" Target="../media/image76.png"/><Relationship Id="rId7" Type="http://schemas.openxmlformats.org/officeDocument/2006/relationships/image" Target="../media/image75.png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36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7.png"/><Relationship Id="rId10" Type="http://schemas.openxmlformats.org/officeDocument/2006/relationships/image" Target="../media/image78.png"/><Relationship Id="rId1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7.png"/><Relationship Id="rId7" Type="http://schemas.openxmlformats.org/officeDocument/2006/relationships/image" Target="../media/image82.png"/><Relationship Id="rId6" Type="http://schemas.openxmlformats.org/officeDocument/2006/relationships/image" Target="../media/image81.png"/><Relationship Id="rId5" Type="http://schemas.openxmlformats.org/officeDocument/2006/relationships/image" Target="../media/image62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36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0" Type="http://schemas.openxmlformats.org/officeDocument/2006/relationships/notesSlide" Target="../notesSlides/notesSlide10.xml"/><Relationship Id="rId2" Type="http://schemas.openxmlformats.org/officeDocument/2006/relationships/image" Target="../media/image36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98.png"/><Relationship Id="rId17" Type="http://schemas.openxmlformats.org/officeDocument/2006/relationships/image" Target="../media/image97.png"/><Relationship Id="rId16" Type="http://schemas.openxmlformats.org/officeDocument/2006/relationships/image" Target="../media/image96.png"/><Relationship Id="rId15" Type="http://schemas.openxmlformats.org/officeDocument/2006/relationships/image" Target="../media/image95.png"/><Relationship Id="rId14" Type="http://schemas.openxmlformats.org/officeDocument/2006/relationships/image" Target="../media/image94.png"/><Relationship Id="rId13" Type="http://schemas.openxmlformats.org/officeDocument/2006/relationships/image" Target="../media/image93.png"/><Relationship Id="rId12" Type="http://schemas.openxmlformats.org/officeDocument/2006/relationships/image" Target="../media/image92.png"/><Relationship Id="rId11" Type="http://schemas.openxmlformats.org/officeDocument/2006/relationships/image" Target="../media/image91.png"/><Relationship Id="rId10" Type="http://schemas.openxmlformats.org/officeDocument/2006/relationships/image" Target="../media/image90.pn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104.png"/><Relationship Id="rId7" Type="http://schemas.openxmlformats.org/officeDocument/2006/relationships/image" Target="../media/image103.png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36.png"/><Relationship Id="rId18" Type="http://schemas.openxmlformats.org/officeDocument/2006/relationships/notesSlide" Target="../notesSlides/notesSlide11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70.png"/><Relationship Id="rId15" Type="http://schemas.openxmlformats.org/officeDocument/2006/relationships/image" Target="../media/image111.png"/><Relationship Id="rId14" Type="http://schemas.openxmlformats.org/officeDocument/2006/relationships/image" Target="../media/image110.png"/><Relationship Id="rId13" Type="http://schemas.openxmlformats.org/officeDocument/2006/relationships/image" Target="../media/image109.png"/><Relationship Id="rId12" Type="http://schemas.openxmlformats.org/officeDocument/2006/relationships/image" Target="../media/image108.png"/><Relationship Id="rId11" Type="http://schemas.openxmlformats.org/officeDocument/2006/relationships/image" Target="../media/image107.png"/><Relationship Id="rId10" Type="http://schemas.openxmlformats.org/officeDocument/2006/relationships/image" Target="../media/image106.pn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17.png"/><Relationship Id="rId7" Type="http://schemas.openxmlformats.org/officeDocument/2006/relationships/image" Target="../media/image116.png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3" Type="http://schemas.openxmlformats.org/officeDocument/2006/relationships/image" Target="../media/image112.png"/><Relationship Id="rId20" Type="http://schemas.openxmlformats.org/officeDocument/2006/relationships/notesSlide" Target="../notesSlides/notesSlide12.xml"/><Relationship Id="rId2" Type="http://schemas.openxmlformats.org/officeDocument/2006/relationships/image" Target="../media/image36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26.png"/><Relationship Id="rId17" Type="http://schemas.openxmlformats.org/officeDocument/2006/relationships/image" Target="../media/image125.png"/><Relationship Id="rId16" Type="http://schemas.openxmlformats.org/officeDocument/2006/relationships/image" Target="../media/image73.png"/><Relationship Id="rId15" Type="http://schemas.openxmlformats.org/officeDocument/2006/relationships/image" Target="../media/image124.png"/><Relationship Id="rId14" Type="http://schemas.openxmlformats.org/officeDocument/2006/relationships/image" Target="../media/image123.png"/><Relationship Id="rId13" Type="http://schemas.openxmlformats.org/officeDocument/2006/relationships/image" Target="../media/image122.png"/><Relationship Id="rId12" Type="http://schemas.openxmlformats.org/officeDocument/2006/relationships/image" Target="../media/image121.png"/><Relationship Id="rId11" Type="http://schemas.openxmlformats.org/officeDocument/2006/relationships/image" Target="../media/image120.png"/><Relationship Id="rId10" Type="http://schemas.openxmlformats.org/officeDocument/2006/relationships/image" Target="../media/image119.png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png"/><Relationship Id="rId8" Type="http://schemas.openxmlformats.org/officeDocument/2006/relationships/image" Target="../media/image134.png"/><Relationship Id="rId7" Type="http://schemas.openxmlformats.org/officeDocument/2006/relationships/image" Target="../media/image133.png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Relationship Id="rId3" Type="http://schemas.openxmlformats.org/officeDocument/2006/relationships/image" Target="../media/image129.png"/><Relationship Id="rId20" Type="http://schemas.openxmlformats.org/officeDocument/2006/relationships/notesSlide" Target="../notesSlides/notesSlide13.xml"/><Relationship Id="rId2" Type="http://schemas.openxmlformats.org/officeDocument/2006/relationships/image" Target="../media/image128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44.png"/><Relationship Id="rId17" Type="http://schemas.openxmlformats.org/officeDocument/2006/relationships/image" Target="../media/image143.png"/><Relationship Id="rId16" Type="http://schemas.openxmlformats.org/officeDocument/2006/relationships/image" Target="../media/image142.png"/><Relationship Id="rId15" Type="http://schemas.openxmlformats.org/officeDocument/2006/relationships/image" Target="../media/image141.png"/><Relationship Id="rId14" Type="http://schemas.openxmlformats.org/officeDocument/2006/relationships/image" Target="../media/image140.png"/><Relationship Id="rId13" Type="http://schemas.openxmlformats.org/officeDocument/2006/relationships/image" Target="../media/image139.png"/><Relationship Id="rId12" Type="http://schemas.openxmlformats.org/officeDocument/2006/relationships/image" Target="../media/image138.png"/><Relationship Id="rId11" Type="http://schemas.openxmlformats.org/officeDocument/2006/relationships/image" Target="../media/image137.png"/><Relationship Id="rId10" Type="http://schemas.openxmlformats.org/officeDocument/2006/relationships/image" Target="../media/image136.png"/><Relationship Id="rId1" Type="http://schemas.openxmlformats.org/officeDocument/2006/relationships/image" Target="../media/image12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7.png"/><Relationship Id="rId7" Type="http://schemas.openxmlformats.org/officeDocument/2006/relationships/hyperlink" Target="https://www.bilibili.com/video/BV1fG6cBeEjX/?spm_id_from=333.1387.homepage.video_card.click&#13;" TargetMode="External"/><Relationship Id="rId6" Type="http://schemas.openxmlformats.org/officeDocument/2006/relationships/image" Target="../media/image146.png"/><Relationship Id="rId5" Type="http://schemas.openxmlformats.org/officeDocument/2006/relationships/hyperlink" Target="https://www.bilibili.com/video/BV1darmBcE4A/?spm_id_from=333.1387.homepage.video_card.click&amp;vd_source=06915050ed6b06c06559d6ee5e586ca7&#13;" TargetMode="External"/><Relationship Id="rId4" Type="http://schemas.openxmlformats.org/officeDocument/2006/relationships/image" Target="../media/image145.jpeg"/><Relationship Id="rId3" Type="http://schemas.openxmlformats.org/officeDocument/2006/relationships/image" Target="../media/image47.png"/><Relationship Id="rId2" Type="http://schemas.openxmlformats.org/officeDocument/2006/relationships/image" Target="../media/image36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梯形 4"/>
          <p:cNvSpPr/>
          <p:nvPr/>
        </p:nvSpPr>
        <p:spPr>
          <a:xfrm flipV="1">
            <a:off x="88900" y="-29210"/>
            <a:ext cx="6146800" cy="3373120"/>
          </a:xfrm>
          <a:prstGeom prst="trapezoid">
            <a:avLst>
              <a:gd name="adj" fmla="val 2227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4"/>
          <p:cNvSpPr txBox="1">
            <a:spLocks noChangeArrowheads="1"/>
          </p:cNvSpPr>
          <p:nvPr/>
        </p:nvSpPr>
        <p:spPr bwMode="auto">
          <a:xfrm>
            <a:off x="7877810" y="5942965"/>
            <a:ext cx="426529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愿景：具身智能机器人赋能人类生活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使命：通过教学研推动具身智能落地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3" name="图片 2" descr="图片包含 游戏机, 飞机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8" t="33444" r="10371" b="39111"/>
          <a:stretch>
            <a:fillRect/>
          </a:stretch>
        </p:blipFill>
        <p:spPr>
          <a:xfrm>
            <a:off x="1309809" y="526090"/>
            <a:ext cx="2247900" cy="82419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1875155"/>
            <a:ext cx="2228850" cy="22288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1745" y="4584700"/>
            <a:ext cx="2489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xbotics</a:t>
            </a: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社区公众号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00" y="-635"/>
            <a:ext cx="78232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" y="0"/>
            <a:ext cx="12192000" cy="68580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901440" y="1013520"/>
            <a:ext cx="438912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时序差分算法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4472940" y="5932805"/>
            <a:ext cx="3272155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216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xbotics 具身智能社区分享</a:t>
            </a:r>
            <a:endParaRPr lang="en-US" sz="2160" dirty="0"/>
          </a:p>
        </p:txBody>
      </p:sp>
      <p:sp>
        <p:nvSpPr>
          <p:cNvPr id="13" name="Text 5"/>
          <p:cNvSpPr/>
          <p:nvPr/>
        </p:nvSpPr>
        <p:spPr>
          <a:xfrm>
            <a:off x="4979789" y="5006280"/>
            <a:ext cx="2232422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zh-CN" altLang="en-US" sz="18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分享者</a:t>
            </a:r>
            <a:r>
              <a:rPr lang="en-US" sz="18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Liberow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4979035" y="5654040"/>
            <a:ext cx="225933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55" y="2857500"/>
            <a:ext cx="1370330" cy="571500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1035685" y="2954655"/>
            <a:ext cx="1282700" cy="4743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蒙特卡洛 (MC)</a:t>
            </a:r>
            <a:endParaRPr lang="en-US" sz="1400" b="1" dirty="0">
              <a:solidFill>
                <a:srgbClr val="33333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  <a:sym typeface="+mn-ea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385" y="2857500"/>
            <a:ext cx="1350010" cy="57150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705" y="2857500"/>
            <a:ext cx="1466850" cy="571500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335" y="2808605"/>
            <a:ext cx="1932305" cy="571500"/>
          </a:xfrm>
          <a:prstGeom prst="rect">
            <a:avLst/>
          </a:prstGeom>
        </p:spPr>
      </p:pic>
      <p:sp>
        <p:nvSpPr>
          <p:cNvPr id="31" name="Text 2"/>
          <p:cNvSpPr/>
          <p:nvPr/>
        </p:nvSpPr>
        <p:spPr>
          <a:xfrm>
            <a:off x="6101715" y="2954655"/>
            <a:ext cx="1282700" cy="4743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时序差分 (TD)</a:t>
            </a:r>
            <a:endParaRPr lang="en-US" sz="1400" b="1" dirty="0">
              <a:solidFill>
                <a:srgbClr val="33333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  <a:sym typeface="+mn-ea"/>
            </a:endParaRPr>
          </a:p>
        </p:txBody>
      </p:sp>
      <p:sp>
        <p:nvSpPr>
          <p:cNvPr id="32" name="Text 2"/>
          <p:cNvSpPr/>
          <p:nvPr/>
        </p:nvSpPr>
        <p:spPr>
          <a:xfrm>
            <a:off x="3528695" y="2905760"/>
            <a:ext cx="1282700" cy="4743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动态规划 (DP)</a:t>
            </a:r>
            <a:endParaRPr lang="en-US" sz="1400" b="1" dirty="0">
              <a:solidFill>
                <a:srgbClr val="33333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  <a:sym typeface="+mn-ea"/>
            </a:endParaRPr>
          </a:p>
        </p:txBody>
      </p:sp>
      <p:sp>
        <p:nvSpPr>
          <p:cNvPr id="33" name="Text 2"/>
          <p:cNvSpPr/>
          <p:nvPr/>
        </p:nvSpPr>
        <p:spPr>
          <a:xfrm>
            <a:off x="8748395" y="2905760"/>
            <a:ext cx="1630680" cy="4743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zh-CN" altLang="en-US" sz="14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近端策略优化</a:t>
            </a:r>
            <a:r>
              <a:rPr lang="en-US" sz="14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 (PPO</a:t>
            </a:r>
            <a:r>
              <a:rPr lang="en-US" sz="14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  <a:sym typeface="+mn-ea"/>
              </a:rPr>
              <a:t>)</a:t>
            </a:r>
            <a:endParaRPr lang="en-US" sz="1400" b="1" dirty="0">
              <a:solidFill>
                <a:srgbClr val="333333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  <a:sym typeface="+mn-ea"/>
            </a:endParaRPr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385" y="3094990"/>
            <a:ext cx="1143000" cy="19050"/>
          </a:xfrm>
          <a:prstGeom prst="rect">
            <a:avLst/>
          </a:prstGeom>
        </p:spPr>
      </p:pic>
      <p:pic>
        <p:nvPicPr>
          <p:cNvPr id="35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705" y="3094990"/>
            <a:ext cx="1143000" cy="19050"/>
          </a:xfrm>
          <a:prstGeom prst="rect">
            <a:avLst/>
          </a:prstGeom>
        </p:spPr>
      </p:pic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555" y="3114040"/>
            <a:ext cx="1143000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2771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81100"/>
            <a:ext cx="5695950" cy="2286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71600"/>
            <a:ext cx="5715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1504950"/>
            <a:ext cx="1714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1181100"/>
            <a:ext cx="5695950" cy="2286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37160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15049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657600"/>
            <a:ext cx="5695950" cy="2019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84810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3981450"/>
            <a:ext cx="17145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657600"/>
            <a:ext cx="5695950" cy="2019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0" y="384810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3200" y="3981450"/>
            <a:ext cx="22860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04800" y="304800"/>
            <a:ext cx="115824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强化学习的四大要素</a:t>
            </a:r>
            <a:endParaRPr lang="en-US" sz="2250" b="1" dirty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3" name="Text 1"/>
          <p:cNvSpPr/>
          <p:nvPr/>
        </p:nvSpPr>
        <p:spPr>
          <a:xfrm>
            <a:off x="1181100" y="1562100"/>
            <a:ext cx="841712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状态 S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495300" y="2133600"/>
            <a:ext cx="53149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描述机器人所处环境的条件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533400" y="2476500"/>
            <a:ext cx="52768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位置信息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533400" y="2743200"/>
            <a:ext cx="52768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朝向角度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7067550" y="1562100"/>
            <a:ext cx="856536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动作 A</a:t>
            </a:r>
            <a:endParaRPr lang="en-US" sz="1800" dirty="0"/>
          </a:p>
        </p:txBody>
      </p:sp>
      <p:sp>
        <p:nvSpPr>
          <p:cNvPr id="28" name="Text 6"/>
          <p:cNvSpPr/>
          <p:nvPr/>
        </p:nvSpPr>
        <p:spPr>
          <a:xfrm>
            <a:off x="6381750" y="2133600"/>
            <a:ext cx="53149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机器人可以执行的操作</a:t>
            </a:r>
            <a:endParaRPr lang="en-US" sz="1350" dirty="0"/>
          </a:p>
        </p:txBody>
      </p:sp>
      <p:sp>
        <p:nvSpPr>
          <p:cNvPr id="29" name="Text 7"/>
          <p:cNvSpPr/>
          <p:nvPr/>
        </p:nvSpPr>
        <p:spPr>
          <a:xfrm>
            <a:off x="6419850" y="2476500"/>
            <a:ext cx="52768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前进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6419850" y="2743200"/>
            <a:ext cx="52768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左转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6419850" y="3009900"/>
            <a:ext cx="52768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右转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1181100" y="4038600"/>
            <a:ext cx="855464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奖励 R</a:t>
            </a:r>
            <a:endParaRPr lang="en-US" sz="1800" dirty="0"/>
          </a:p>
        </p:txBody>
      </p:sp>
      <p:sp>
        <p:nvSpPr>
          <p:cNvPr id="33" name="Text 11"/>
          <p:cNvSpPr/>
          <p:nvPr/>
        </p:nvSpPr>
        <p:spPr>
          <a:xfrm>
            <a:off x="495300" y="4610100"/>
            <a:ext cx="53149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评估动作质量的信号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533400" y="4953000"/>
            <a:ext cx="52768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+1 到达目标点</a:t>
            </a:r>
            <a:endParaRPr lang="en-US" sz="1350" dirty="0"/>
          </a:p>
        </p:txBody>
      </p:sp>
      <p:sp>
        <p:nvSpPr>
          <p:cNvPr id="35" name="Text 13"/>
          <p:cNvSpPr/>
          <p:nvPr/>
        </p:nvSpPr>
        <p:spPr>
          <a:xfrm>
            <a:off x="533400" y="5219700"/>
            <a:ext cx="52768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-1 撞墙</a:t>
            </a:r>
            <a:endParaRPr lang="en-US" sz="1350" dirty="0"/>
          </a:p>
        </p:txBody>
      </p:sp>
      <p:sp>
        <p:nvSpPr>
          <p:cNvPr id="36" name="Text 14"/>
          <p:cNvSpPr/>
          <p:nvPr/>
        </p:nvSpPr>
        <p:spPr>
          <a:xfrm>
            <a:off x="7067550" y="4038600"/>
            <a:ext cx="861179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策略 π</a:t>
            </a:r>
            <a:endParaRPr lang="en-US" sz="1800" dirty="0"/>
          </a:p>
        </p:txBody>
      </p:sp>
      <p:sp>
        <p:nvSpPr>
          <p:cNvPr id="37" name="Text 15"/>
          <p:cNvSpPr/>
          <p:nvPr/>
        </p:nvSpPr>
        <p:spPr>
          <a:xfrm>
            <a:off x="6381750" y="4610100"/>
            <a:ext cx="53149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决定"在某个状态下做什么动作"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57400"/>
            <a:ext cx="5638800" cy="266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50" y="3028950"/>
            <a:ext cx="6477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210050"/>
            <a:ext cx="56388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980" y="253365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1030" y="25527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00" y="4152900"/>
            <a:ext cx="1905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0300" y="42576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57400"/>
            <a:ext cx="5638800" cy="2667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4413" y="3028950"/>
            <a:ext cx="714375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4210050"/>
            <a:ext cx="56388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780" y="253365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2830" y="25527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9271" y="253365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38321" y="25527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39100" y="4152900"/>
            <a:ext cx="1905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91500" y="4257675"/>
            <a:ext cx="152400" cy="152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1430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任务</a:t>
            </a:r>
            <a:r>
              <a:rPr lang="zh-CN" alt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类别</a:t>
            </a:r>
            <a:endParaRPr lang="zh-CN" altLang="en-US" sz="2250" b="1" dirty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7" name="Text 1"/>
          <p:cNvSpPr/>
          <p:nvPr/>
        </p:nvSpPr>
        <p:spPr>
          <a:xfrm>
            <a:off x="381000" y="1409700"/>
            <a:ext cx="13716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真实机器人通常不断巡逻或工作，即使有终点，也可能被人挡住、被迫绕路，任务不一定有一个完美的"终点"。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609600" y="2286000"/>
            <a:ext cx="518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回合制</a:t>
            </a: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任务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2628900" y="41529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528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明确终点，任务结束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6400800" y="2286000"/>
            <a:ext cx="518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持续性</a:t>
            </a:r>
            <a:r>
              <a:rPr lang="en-US" sz="1500" b="1" dirty="0">
                <a:solidFill>
                  <a:srgbClr val="33333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任务</a:t>
            </a:r>
            <a:endParaRPr lang="en-US" sz="1500" dirty="0"/>
          </a:p>
        </p:txBody>
      </p:sp>
      <p:sp>
        <p:nvSpPr>
          <p:cNvPr id="31" name="Text 5"/>
          <p:cNvSpPr/>
          <p:nvPr/>
        </p:nvSpPr>
        <p:spPr>
          <a:xfrm>
            <a:off x="8420100" y="41529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528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持续运行，动态适应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313" y="2933700"/>
            <a:ext cx="714375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1695450"/>
            <a:ext cx="3048000" cy="304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975" y="2457450"/>
            <a:ext cx="39052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2362" y="2824163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0" y="3590925"/>
            <a:ext cx="3429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075" y="3957638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0" y="2457450"/>
            <a:ext cx="219075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733550"/>
            <a:ext cx="5715000" cy="838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8859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2800350"/>
            <a:ext cx="5715000" cy="838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29527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3867150"/>
            <a:ext cx="5715000" cy="838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401955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5715000"/>
            <a:ext cx="11430000" cy="7620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任务引入：机器人如何学会导航？</a:t>
            </a:r>
            <a:endParaRPr lang="en-US" sz="2250" dirty="0"/>
          </a:p>
          <a:p>
            <a:pPr marL="0" indent="0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6591300" y="190500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未知环境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6591300" y="2190750"/>
            <a:ext cx="60807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机器人无法预先了解环境布局，无法创建地图</a:t>
            </a:r>
            <a:endParaRPr lang="en-US" sz="1200" dirty="0"/>
          </a:p>
        </p:txBody>
      </p:sp>
      <p:sp>
        <p:nvSpPr>
          <p:cNvPr id="22" name="Text 3"/>
          <p:cNvSpPr/>
          <p:nvPr/>
        </p:nvSpPr>
        <p:spPr>
          <a:xfrm>
            <a:off x="6591300" y="297180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无法重置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6591300" y="3257550"/>
            <a:ext cx="5067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失败后不能回到起点，必须在线适应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6562725" y="403860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边走边学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6591300" y="4324350"/>
            <a:ext cx="5067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需要在实时决策过程中持续学习优化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533400" y="5867400"/>
            <a:ext cx="11125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9825" y="2838133"/>
            <a:ext cx="28575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962150"/>
            <a:ext cx="5715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095500"/>
            <a:ext cx="20002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025" y="196215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125" y="209550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750" y="196215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209550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1475" y="1962150"/>
            <a:ext cx="5715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575" y="2095500"/>
            <a:ext cx="200025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200" y="196215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686050"/>
            <a:ext cx="5715000" cy="1219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7850" y="4229100"/>
            <a:ext cx="3429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1847850"/>
            <a:ext cx="5715000" cy="838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200025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2914650"/>
            <a:ext cx="5715000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306705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3981450"/>
            <a:ext cx="5715000" cy="838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413385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943600"/>
            <a:ext cx="11430000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3726" y="6115050"/>
            <a:ext cx="1524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蒙特卡洛（MC）方法：完整轨迹后更新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704701" y="1962150"/>
            <a:ext cx="571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1933426" y="1962150"/>
            <a:ext cx="571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3155900" y="1962150"/>
            <a:ext cx="571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</a:t>
            </a:r>
            <a:endParaRPr lang="en-US" sz="1800" dirty="0"/>
          </a:p>
        </p:txBody>
      </p:sp>
      <p:sp>
        <p:nvSpPr>
          <p:cNvPr id="28" name="Text 4"/>
          <p:cNvSpPr/>
          <p:nvPr/>
        </p:nvSpPr>
        <p:spPr>
          <a:xfrm>
            <a:off x="4369147" y="1962150"/>
            <a:ext cx="571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S'</a:t>
            </a:r>
            <a:endParaRPr lang="en-US" sz="1800" dirty="0"/>
          </a:p>
        </p:txBody>
      </p:sp>
      <p:sp>
        <p:nvSpPr>
          <p:cNvPr id="29" name="Text 5"/>
          <p:cNvSpPr/>
          <p:nvPr/>
        </p:nvSpPr>
        <p:spPr>
          <a:xfrm>
            <a:off x="5600551" y="1962150"/>
            <a:ext cx="685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...</a:t>
            </a:r>
            <a:endParaRPr lang="en-US" sz="1800" dirty="0"/>
          </a:p>
        </p:txBody>
      </p:sp>
      <p:sp>
        <p:nvSpPr>
          <p:cNvPr id="30" name="Text 6"/>
          <p:cNvSpPr/>
          <p:nvPr/>
        </p:nvSpPr>
        <p:spPr>
          <a:xfrm>
            <a:off x="2343150" y="4210050"/>
            <a:ext cx="2743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等待完整轨迹结束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2343150" y="4476750"/>
            <a:ext cx="274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必须走完整条路才能更新价值函数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6591300" y="2019300"/>
            <a:ext cx="685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无偏性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6591300" y="2305050"/>
            <a:ext cx="5067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直接利用真实经验，期望值无偏差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6591300" y="3086100"/>
            <a:ext cx="1143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学习延迟高</a:t>
            </a:r>
            <a:endParaRPr lang="en-US" sz="1500" dirty="0"/>
          </a:p>
        </p:txBody>
      </p:sp>
      <p:sp>
        <p:nvSpPr>
          <p:cNvPr id="35" name="Text 11"/>
          <p:cNvSpPr/>
          <p:nvPr/>
        </p:nvSpPr>
        <p:spPr>
          <a:xfrm>
            <a:off x="6591300" y="3371850"/>
            <a:ext cx="5067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必须等待完整轨迹结束才能更新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6591300" y="415290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无法在线学习</a:t>
            </a:r>
            <a:endParaRPr lang="en-US" sz="1500" dirty="0"/>
          </a:p>
        </p:txBody>
      </p:sp>
      <p:sp>
        <p:nvSpPr>
          <p:cNvPr id="37" name="Text 13"/>
          <p:cNvSpPr/>
          <p:nvPr/>
        </p:nvSpPr>
        <p:spPr>
          <a:xfrm>
            <a:off x="6591300" y="4438650"/>
            <a:ext cx="50673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无法实现"边走边学"的实时适应能力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-579120" y="6096000"/>
            <a:ext cx="133502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在机器人导航等实时系统中，MC方法必须走完整条路才能"学习"这一步，这在现实中是不可接受的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52500"/>
            <a:ext cx="5486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0490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095500"/>
            <a:ext cx="5486400" cy="1371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95700"/>
            <a:ext cx="5486400" cy="914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8481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952500"/>
            <a:ext cx="5486400" cy="1943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4500" y="1619250"/>
            <a:ext cx="3429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4500" y="2266950"/>
            <a:ext cx="342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3124200"/>
            <a:ext cx="5486400" cy="1676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7338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40767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4419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6019800"/>
            <a:ext cx="11430000" cy="4572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动态规划（DP）方法：依赖精确环境模型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876300" y="112395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递推更新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876300" y="1485900"/>
            <a:ext cx="5806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基于贝尔曼方程，通过递推方式一层层计算状态价值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571500" y="2286000"/>
            <a:ext cx="510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贝尔曼方程</a:t>
            </a:r>
            <a:endParaRPr lang="en-US" sz="1350" dirty="0"/>
          </a:p>
        </p:txBody>
      </p:sp>
      <p:sp>
        <p:nvSpPr>
          <p:cNvPr id="22" name="Text 4"/>
          <p:cNvSpPr/>
          <p:nvPr/>
        </p:nvSpPr>
        <p:spPr>
          <a:xfrm>
            <a:off x="60960" y="2667000"/>
            <a:ext cx="61264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altLang="zh-CN" sz="1800" dirty="0"/>
              <a:t>V(s) = R(s) + γ max</a:t>
            </a:r>
            <a:r>
              <a:rPr lang="en-US" altLang="en-US" sz="1800" dirty="0"/>
              <a:t>ₐ</a:t>
            </a:r>
            <a:r>
              <a:rPr lang="en-US" altLang="zh-CN" sz="1800" dirty="0"/>
              <a:t> Σs' P(s'|s,a)V(s')</a:t>
            </a:r>
            <a:endParaRPr lang="en-US" altLang="zh-CN" sz="1800" dirty="0"/>
          </a:p>
        </p:txBody>
      </p:sp>
      <p:sp>
        <p:nvSpPr>
          <p:cNvPr id="23" name="Text 5"/>
          <p:cNvSpPr/>
          <p:nvPr/>
        </p:nvSpPr>
        <p:spPr>
          <a:xfrm>
            <a:off x="60960" y="3086100"/>
            <a:ext cx="61264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当前状态价值 = 立即奖励 + 折扣后的未来价值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904875" y="386715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高效计算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876300" y="4229100"/>
            <a:ext cx="5806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DP能高效计算价值函数，适合静态环境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6515100" y="1143000"/>
            <a:ext cx="510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DP的核心需求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8216801" y="1562100"/>
            <a:ext cx="34035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状态转移概率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8216801" y="1828800"/>
            <a:ext cx="40842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P(s'|s,a)：执行动作a从状态s转移到状态s'的概率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8216801" y="2209800"/>
            <a:ext cx="34035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奖励函数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8216801" y="2476500"/>
            <a:ext cx="40842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R(s,a)：执行动作a在状态s获得的即时奖励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6515100" y="3314700"/>
            <a:ext cx="510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现实挑战</a:t>
            </a:r>
            <a:endParaRPr lang="en-US" sz="1500" dirty="0"/>
          </a:p>
        </p:txBody>
      </p:sp>
      <p:sp>
        <p:nvSpPr>
          <p:cNvPr id="32" name="Text 14"/>
          <p:cNvSpPr/>
          <p:nvPr/>
        </p:nvSpPr>
        <p:spPr>
          <a:xfrm>
            <a:off x="6781800" y="3695700"/>
            <a:ext cx="5669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机器人在未知环境中导航，其动力学（如摩擦力、打滑）难以精确建模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6781800" y="4038600"/>
            <a:ext cx="49377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现实环境的状态空间通常是巨大甚至连续的，无法被完全枚举</a:t>
            </a:r>
            <a:endParaRPr lang="en-US" sz="1200" dirty="0"/>
          </a:p>
        </p:txBody>
      </p:sp>
      <p:sp>
        <p:nvSpPr>
          <p:cNvPr id="34" name="Text 16"/>
          <p:cNvSpPr/>
          <p:nvPr/>
        </p:nvSpPr>
        <p:spPr>
          <a:xfrm>
            <a:off x="6781800" y="4381500"/>
            <a:ext cx="38586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DP的"枚举所有状态"这一前提在现实中无法满足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-624840" y="6134100"/>
            <a:ext cx="1344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DP方法虽然计算高效，但其依赖的环境模型在现实中往往难以获得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466850"/>
            <a:ext cx="4762500" cy="1676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5735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1526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4574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7622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20193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1466850"/>
            <a:ext cx="4762500" cy="1676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0" y="1657350"/>
            <a:ext cx="3619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21526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24574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27622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750" y="3524250"/>
            <a:ext cx="8572500" cy="1447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0250" y="3714750"/>
            <a:ext cx="2857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0" y="46101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46101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5715000"/>
            <a:ext cx="11430000" cy="7620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核心矛盾：真实经验 vs. 高效递推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971550" y="1676400"/>
            <a:ext cx="1782901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蒙特卡洛 (MC)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952500" y="211455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追求真实经验，无偏性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952500" y="2419350"/>
            <a:ext cx="2377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学习延迟高，需等待完整轨迹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952500" y="2724150"/>
            <a:ext cx="201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无法在线学习，实时性差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5943451" y="2019300"/>
            <a:ext cx="5715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VS</a:t>
            </a:r>
            <a:endParaRPr lang="en-US" sz="1800" dirty="0"/>
          </a:p>
        </p:txBody>
      </p:sp>
      <p:sp>
        <p:nvSpPr>
          <p:cNvPr id="27" name="Text 6"/>
          <p:cNvSpPr/>
          <p:nvPr/>
        </p:nvSpPr>
        <p:spPr>
          <a:xfrm>
            <a:off x="7715250" y="1676400"/>
            <a:ext cx="173736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动态规划 (DP)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7620000" y="2114550"/>
            <a:ext cx="16459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高效递推，实时更新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7620000" y="2419350"/>
            <a:ext cx="14630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依赖精确环境模型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7620000" y="2724150"/>
            <a:ext cx="201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状态空间爆炸，难以实现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2400300" y="3733800"/>
            <a:ext cx="2346722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时序差分 (TD) 算法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2000250" y="4171950"/>
            <a:ext cx="9829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TD算法解决了MC与DP的核心矛盾，诞生于20世纪80年代，成为现代强化学习的基石。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2228850" y="4552950"/>
            <a:ext cx="274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每步都利用真实经验进行在线更新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6477000" y="4552950"/>
            <a:ext cx="201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无需依赖完整的环境模型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533400" y="5867400"/>
            <a:ext cx="11125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"能否设计一种算法，既能在每一步都利用真实经验进行在线更新，又不需要依赖完整的环境模型？"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
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这正是时序差分（TD）算法诞生的根源。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52500"/>
            <a:ext cx="5715000" cy="453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28750"/>
            <a:ext cx="54102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15811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686050"/>
            <a:ext cx="541020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283845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943350"/>
            <a:ext cx="541020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4095750"/>
            <a:ext cx="1428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5715000"/>
            <a:ext cx="11430000" cy="7620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时序差分（TD）核心思想：用未来修正现在</a:t>
            </a:r>
            <a:endParaRPr lang="en-US" sz="2250" dirty="0"/>
          </a:p>
        </p:txBody>
      </p:sp>
      <p:sp>
        <p:nvSpPr>
          <p:cNvPr id="14" name="Text 1"/>
          <p:cNvSpPr/>
          <p:nvPr/>
        </p:nvSpPr>
        <p:spPr>
          <a:xfrm>
            <a:off x="6896100" y="1600200"/>
            <a:ext cx="914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在线更新</a:t>
            </a:r>
            <a:endParaRPr lang="en-US" sz="1500" dirty="0"/>
          </a:p>
        </p:txBody>
      </p:sp>
      <p:sp>
        <p:nvSpPr>
          <p:cNvPr id="15" name="Text 2"/>
          <p:cNvSpPr/>
          <p:nvPr/>
        </p:nvSpPr>
        <p:spPr>
          <a:xfrm>
            <a:off x="6896100" y="1885950"/>
            <a:ext cx="4762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每走一步，机器人就能立即更新其对当前状态价值的认知，无需等待episode结束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6924675" y="285750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无需环境模型</a:t>
            </a:r>
            <a:endParaRPr lang="en-US" sz="1500" dirty="0"/>
          </a:p>
        </p:txBody>
      </p:sp>
      <p:sp>
        <p:nvSpPr>
          <p:cNvPr id="17" name="Text 4"/>
          <p:cNvSpPr/>
          <p:nvPr/>
        </p:nvSpPr>
        <p:spPr>
          <a:xfrm>
            <a:off x="6896100" y="3143250"/>
            <a:ext cx="4762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直接从与环境的真实交互中学习，不依赖于状态转移概率或奖励函数的先验知识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6810375" y="4114800"/>
            <a:ext cx="113121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"边走边学"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6896100" y="4400550"/>
            <a:ext cx="4762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用未来状态的价值估计来修正当前状态的价值判断，实现真正的在线学习</a:t>
            </a:r>
            <a:endParaRPr lang="en-US" sz="1200" dirty="0"/>
          </a:p>
        </p:txBody>
      </p:sp>
      <p:sp>
        <p:nvSpPr>
          <p:cNvPr id="20" name="Text 7"/>
          <p:cNvSpPr/>
          <p:nvPr/>
        </p:nvSpPr>
        <p:spPr>
          <a:xfrm>
            <a:off x="533400" y="5867400"/>
            <a:ext cx="11125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TD(0)更新公式：V(s) ← V(s) + α[r + γV(s') - V(s)]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
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核心在于用下一步的感知[r + γV(s')]来修正当前对状态s价值的判断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52500"/>
            <a:ext cx="5486400" cy="1104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286000"/>
            <a:ext cx="2667000" cy="838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438400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286000"/>
            <a:ext cx="2667000" cy="838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800" y="243840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276600"/>
            <a:ext cx="2667000" cy="1028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3429000"/>
            <a:ext cx="14287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3276600"/>
            <a:ext cx="2667000" cy="102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2800" y="34290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952500"/>
            <a:ext cx="5486400" cy="5067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457450"/>
            <a:ext cx="1676400" cy="838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62813" y="2571750"/>
            <a:ext cx="2571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0" y="2457450"/>
            <a:ext cx="1676400" cy="838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67788" y="2571750"/>
            <a:ext cx="200025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6000" y="2457450"/>
            <a:ext cx="1676400" cy="838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29900" y="2571750"/>
            <a:ext cx="228600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TD(0)更新公式：价值估计的动态修正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1174671" y="1200150"/>
            <a:ext cx="3899059" cy="2571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V(s) ← V(s) + α[r + γV(s') - V(s)]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2449830" y="1600200"/>
            <a:ext cx="13487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TD(0)更新公式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828675" y="2438400"/>
            <a:ext cx="38879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V(s)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533400" y="2781300"/>
            <a:ext cx="28346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当前对状态s价值的估计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3600450" y="2438400"/>
            <a:ext cx="86671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 + γV(s')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3352800" y="2781300"/>
            <a:ext cx="28346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对从状态s出发的未来回报的即时预测</a:t>
            </a:r>
            <a:endParaRPr lang="en-US" sz="1050" dirty="0"/>
          </a:p>
        </p:txBody>
      </p:sp>
      <p:sp>
        <p:nvSpPr>
          <p:cNvPr id="30" name="Text 7"/>
          <p:cNvSpPr/>
          <p:nvPr/>
        </p:nvSpPr>
        <p:spPr>
          <a:xfrm>
            <a:off x="752475" y="3429000"/>
            <a:ext cx="126623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α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533400" y="3771900"/>
            <a:ext cx="28346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学习率，控制更新幅度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3619500" y="3429000"/>
            <a:ext cx="179736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δ = r + γV(s') - V(s)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3352800" y="3771900"/>
            <a:ext cx="2362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TD误差，衡量当前估计与即时预测之间的差距</a:t>
            </a:r>
            <a:endParaRPr lang="en-US" sz="1050" dirty="0"/>
          </a:p>
        </p:txBody>
      </p:sp>
      <p:sp>
        <p:nvSpPr>
          <p:cNvPr id="34" name="Text 11"/>
          <p:cNvSpPr/>
          <p:nvPr/>
        </p:nvSpPr>
        <p:spPr>
          <a:xfrm>
            <a:off x="6553200" y="1181100"/>
            <a:ext cx="5029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TD更新过程可视化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6667500" y="2952750"/>
            <a:ext cx="1447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V(s)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8199120" y="2952750"/>
            <a:ext cx="17373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 + γV(s')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9875520" y="2952750"/>
            <a:ext cx="17373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δ = r + γV(s') - V(s)</a:t>
            </a:r>
            <a:endParaRPr lang="en-US" sz="1200" dirty="0"/>
          </a:p>
        </p:txBody>
      </p:sp>
      <p:sp>
        <p:nvSpPr>
          <p:cNvPr id="39" name="Text 16"/>
          <p:cNvSpPr/>
          <p:nvPr/>
        </p:nvSpPr>
        <p:spPr>
          <a:xfrm>
            <a:off x="7862739" y="4095750"/>
            <a:ext cx="333773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7862739" y="4324350"/>
            <a:ext cx="333773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7862739" y="4552950"/>
            <a:ext cx="3337739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42" name="Text 19"/>
          <p:cNvSpPr/>
          <p:nvPr/>
        </p:nvSpPr>
        <p:spPr>
          <a:xfrm>
            <a:off x="381000" y="6248400"/>
            <a:ext cx="1143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TD(0)算法通过这种动态修正机制，实现了价值函数的在线学习与更新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247900"/>
            <a:ext cx="4572000" cy="1752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3343275"/>
            <a:ext cx="152400" cy="133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3343275"/>
            <a:ext cx="104775" cy="1333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1100" y="3609975"/>
            <a:ext cx="11430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3609975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657350"/>
            <a:ext cx="5715000" cy="1600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8097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3364" y="21526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5077" y="215265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6477" y="2152650"/>
            <a:ext cx="219075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3486150"/>
            <a:ext cx="5715000" cy="1600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36385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3364" y="3981450"/>
            <a:ext cx="28575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5077" y="3981450"/>
            <a:ext cx="2476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6477" y="3981450"/>
            <a:ext cx="21907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6019800"/>
            <a:ext cx="11430000" cy="457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TD误差的信号意义：判断"好与坏"的即时反馈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1181100" y="2476500"/>
            <a:ext cx="4114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TD误差公式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769620" y="2857500"/>
            <a:ext cx="493776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δ = r + γV(s') - V(s)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1409700" y="3314700"/>
            <a:ext cx="853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r：即时奖励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3457575" y="3314700"/>
            <a:ext cx="88011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γ：折扣因子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1371600" y="3581400"/>
            <a:ext cx="1444109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V(s')：下一状态价值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3486150" y="3581400"/>
            <a:ext cx="141357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V(s)：当前状态价值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495300" y="4229100"/>
            <a:ext cx="5486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TD误差是价值函数更新的信号，决定学习方向和幅度</a:t>
            </a:r>
            <a:endParaRPr lang="en-US" sz="1350" dirty="0"/>
          </a:p>
        </p:txBody>
      </p:sp>
      <p:sp>
        <p:nvSpPr>
          <p:cNvPr id="29" name="Text 8"/>
          <p:cNvSpPr/>
          <p:nvPr/>
        </p:nvSpPr>
        <p:spPr>
          <a:xfrm>
            <a:off x="6515100" y="1809750"/>
            <a:ext cx="173271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正TD误差 (δ &gt; 0)</a:t>
            </a:r>
            <a:endParaRPr lang="en-US" sz="1500" dirty="0"/>
          </a:p>
        </p:txBody>
      </p:sp>
      <p:sp>
        <p:nvSpPr>
          <p:cNvPr id="30" name="Text 9"/>
          <p:cNvSpPr/>
          <p:nvPr/>
        </p:nvSpPr>
        <p:spPr>
          <a:xfrm>
            <a:off x="6634579" y="2571750"/>
            <a:ext cx="843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实际奖励 r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8217024" y="2571750"/>
            <a:ext cx="124390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未来价值 γV(s')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10177195" y="2571750"/>
            <a:ext cx="1117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当前价值 V(s)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6248400" y="2876550"/>
            <a:ext cx="64922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实际回报高于估计 → 需要</a:t>
            </a:r>
            <a:r>
              <a:rPr lang="en-US" sz="1200" b="1" dirty="0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上调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价值估计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6515100" y="3638550"/>
            <a:ext cx="173271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负TD误差 (δ &lt; 0)</a:t>
            </a:r>
            <a:endParaRPr lang="en-US" sz="1500" dirty="0"/>
          </a:p>
        </p:txBody>
      </p:sp>
      <p:sp>
        <p:nvSpPr>
          <p:cNvPr id="35" name="Text 14"/>
          <p:cNvSpPr/>
          <p:nvPr/>
        </p:nvSpPr>
        <p:spPr>
          <a:xfrm>
            <a:off x="6634579" y="4400550"/>
            <a:ext cx="843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实际奖励 r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8217024" y="4400550"/>
            <a:ext cx="1243905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未来价值 γV(s')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10177195" y="4400550"/>
            <a:ext cx="1117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当前价值 V(s)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6248400" y="4705350"/>
            <a:ext cx="64922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实际回报低于估计 → 需要</a:t>
            </a:r>
            <a:r>
              <a:rPr lang="en-US" sz="1200" b="1" dirty="0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下调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价值估计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495300" y="6134100"/>
            <a:ext cx="11201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TD误差提供即时反馈，驱动价值函数收敛到真实值，实现"边走边学"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14588"/>
            <a:ext cx="57912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113" y="3290888"/>
            <a:ext cx="685800" cy="6191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313" y="3367088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3313" y="3524250"/>
            <a:ext cx="142875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8588" y="3290888"/>
            <a:ext cx="596950" cy="6191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4788" y="3367088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90651" y="4062412"/>
            <a:ext cx="5715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8351" y="4062412"/>
            <a:ext cx="5715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3101" y="4481513"/>
            <a:ext cx="1143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7351" y="4672013"/>
            <a:ext cx="6858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3576" y="4767263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2419350"/>
            <a:ext cx="5638800" cy="1066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253365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28956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31623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3600450"/>
            <a:ext cx="5638800" cy="1333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3714750"/>
            <a:ext cx="28575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40767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43434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4610100"/>
            <a:ext cx="152400" cy="1524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PPO中的TD作用：GAE构建优势函数的基础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304800" y="2109788"/>
            <a:ext cx="5791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广义优势估计 (GAE)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419100" y="2528888"/>
            <a:ext cx="5562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altLang="en-US" sz="1500" dirty="0"/>
              <a:t>Â</a:t>
            </a:r>
            <a:r>
              <a:rPr lang="en-US" altLang="zh-CN" sz="1500" dirty="0"/>
              <a:t>_t = Σ_{l=0}^∞ (γλ)^l δ_{t+l}</a:t>
            </a:r>
            <a:endParaRPr lang="en-US" altLang="zh-CN" sz="1500" dirty="0"/>
          </a:p>
        </p:txBody>
      </p:sp>
      <p:sp>
        <p:nvSpPr>
          <p:cNvPr id="28" name="Text 3"/>
          <p:cNvSpPr/>
          <p:nvPr/>
        </p:nvSpPr>
        <p:spPr>
          <a:xfrm>
            <a:off x="419100" y="2871788"/>
            <a:ext cx="5562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其中，δ</a:t>
            </a:r>
            <a:r>
              <a:rPr lang="en-US" sz="79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</a:t>
            </a:r>
            <a:r>
              <a:rPr lang="en-US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= r</a:t>
            </a:r>
            <a:r>
              <a:rPr lang="en-US" sz="79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</a:t>
            </a:r>
            <a:r>
              <a:rPr lang="en-US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+ γV(s</a:t>
            </a:r>
            <a:r>
              <a:rPr lang="en-US" sz="79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t+1</a:t>
            </a:r>
            <a:r>
              <a:rPr lang="en-US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) - V(s</a:t>
            </a:r>
            <a:r>
              <a:rPr lang="en-US" sz="79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</a:t>
            </a:r>
            <a:r>
              <a:rPr lang="en-US" sz="1050" dirty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)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2411313" y="3643313"/>
            <a:ext cx="6400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优势估计</a:t>
            </a:r>
            <a:endParaRPr lang="en-US" sz="1050" dirty="0"/>
          </a:p>
        </p:txBody>
      </p:sp>
      <p:sp>
        <p:nvSpPr>
          <p:cNvPr id="30" name="Text 5"/>
          <p:cNvSpPr/>
          <p:nvPr/>
        </p:nvSpPr>
        <p:spPr>
          <a:xfrm>
            <a:off x="3544788" y="3643313"/>
            <a:ext cx="5334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TD误差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2590651" y="4062412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δ</a:t>
            </a:r>
            <a:r>
              <a:rPr lang="en-US" sz="9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3238351" y="4062412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δ</a:t>
            </a:r>
            <a:r>
              <a:rPr lang="en-US" sz="9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t+1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2880211" y="4976813"/>
            <a:ext cx="6400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加权求和</a:t>
            </a:r>
            <a:endParaRPr lang="en-US" sz="1050" dirty="0"/>
          </a:p>
        </p:txBody>
      </p:sp>
      <p:sp>
        <p:nvSpPr>
          <p:cNvPr id="34" name="Text 9"/>
          <p:cNvSpPr/>
          <p:nvPr/>
        </p:nvSpPr>
        <p:spPr>
          <a:xfrm>
            <a:off x="6705600" y="2552700"/>
            <a:ext cx="2387798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TD误差在PPO中的角色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6743700" y="2876550"/>
            <a:ext cx="5257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作为优势函数计算的基础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743700" y="3143250"/>
            <a:ext cx="5257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提供即时、无偏的价值评估信号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6762750" y="3733800"/>
            <a:ext cx="1638419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GAE的平衡作用</a:t>
            </a:r>
            <a:endParaRPr lang="en-US" sz="1500" dirty="0"/>
          </a:p>
        </p:txBody>
      </p:sp>
      <p:sp>
        <p:nvSpPr>
          <p:cNvPr id="38" name="Text 13"/>
          <p:cNvSpPr/>
          <p:nvPr/>
        </p:nvSpPr>
        <p:spPr>
          <a:xfrm>
            <a:off x="6743700" y="4057650"/>
            <a:ext cx="5257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通过λ参数在TD与MC间权衡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6743700" y="4324350"/>
            <a:ext cx="5257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λ=0时，退化为单步TD误差[TD(0)]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6743700" y="4591050"/>
            <a:ext cx="5257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λ=1时，退化为MC估计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4400"/>
            <a:ext cx="238125" cy="190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1295400"/>
            <a:ext cx="1524000" cy="114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1447800"/>
            <a:ext cx="36195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1295400"/>
            <a:ext cx="1524000" cy="1143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225" y="1447800"/>
            <a:ext cx="2857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0" y="1295400"/>
            <a:ext cx="1524000" cy="1143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1447800"/>
            <a:ext cx="28575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667000"/>
            <a:ext cx="5562600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1625" y="37719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2125" y="39243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9825" y="4152900"/>
            <a:ext cx="142875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1300" y="37719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39243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9500" y="4152900"/>
            <a:ext cx="142875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0975" y="3771900"/>
            <a:ext cx="609600" cy="609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52900" y="392430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0" y="914400"/>
            <a:ext cx="142875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0" y="1295400"/>
            <a:ext cx="5791200" cy="1638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0" y="4031615"/>
            <a:ext cx="5791200" cy="5715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04800" y="304800"/>
            <a:ext cx="115824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TD在现代强化学习中的角色与总结</a:t>
            </a:r>
            <a:endParaRPr lang="en-US" sz="2250" b="1" dirty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29" name="Text 1"/>
          <p:cNvSpPr/>
          <p:nvPr/>
        </p:nvSpPr>
        <p:spPr>
          <a:xfrm>
            <a:off x="619125" y="876300"/>
            <a:ext cx="5562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TD作为现代强化学习的基石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800100" y="1866900"/>
            <a:ext cx="1219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DQN</a:t>
            </a:r>
            <a:endParaRPr lang="en-US" sz="1200" dirty="0"/>
          </a:p>
        </p:txBody>
      </p:sp>
      <p:sp>
        <p:nvSpPr>
          <p:cNvPr id="31" name="Text 3"/>
          <p:cNvSpPr/>
          <p:nvPr/>
        </p:nvSpPr>
        <p:spPr>
          <a:xfrm>
            <a:off x="678180" y="2095500"/>
            <a:ext cx="14630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深度Q网络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2476500" y="1866900"/>
            <a:ext cx="1219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A3C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2354580" y="2095500"/>
            <a:ext cx="14630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异步优势演员评论家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4152900" y="1866900"/>
            <a:ext cx="1219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SAC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4030980" y="2095500"/>
            <a:ext cx="14630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软演员评论家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457200" y="2819400"/>
            <a:ext cx="5257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TD(0)</a:t>
            </a:r>
            <a:endParaRPr lang="en-US" sz="1500" dirty="0"/>
          </a:p>
        </p:txBody>
      </p:sp>
      <p:sp>
        <p:nvSpPr>
          <p:cNvPr id="37" name="Text 9"/>
          <p:cNvSpPr/>
          <p:nvPr/>
        </p:nvSpPr>
        <p:spPr>
          <a:xfrm>
            <a:off x="-68580" y="3162300"/>
            <a:ext cx="63093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时序差分算法的核心，所有这些现代算法都以TD误差作为核心更新信号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1510665" y="4457700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目标策略</a:t>
            </a:r>
            <a:endParaRPr lang="en-US" sz="1200" dirty="0"/>
          </a:p>
        </p:txBody>
      </p:sp>
      <p:sp>
        <p:nvSpPr>
          <p:cNvPr id="39" name="Text 11"/>
          <p:cNvSpPr/>
          <p:nvPr/>
        </p:nvSpPr>
        <p:spPr>
          <a:xfrm>
            <a:off x="2720340" y="4457700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在线更新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3930015" y="4457700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具身智能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6315075" y="876300"/>
            <a:ext cx="5791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总结与要点</a:t>
            </a:r>
            <a:endParaRPr lang="en-US" sz="1500" dirty="0"/>
          </a:p>
        </p:txBody>
      </p:sp>
      <p:sp>
        <p:nvSpPr>
          <p:cNvPr id="42" name="Text 14"/>
          <p:cNvSpPr/>
          <p:nvPr/>
        </p:nvSpPr>
        <p:spPr>
          <a:xfrm>
            <a:off x="6248400" y="14478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TD的核心优势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6248400" y="17526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结合了MC的真实经验与DP的递推更新</a:t>
            </a:r>
            <a:endParaRPr lang="en-US" sz="1200" dirty="0"/>
          </a:p>
        </p:txBody>
      </p:sp>
      <p:sp>
        <p:nvSpPr>
          <p:cNvPr id="44" name="Text 16"/>
          <p:cNvSpPr/>
          <p:nvPr/>
        </p:nvSpPr>
        <p:spPr>
          <a:xfrm>
            <a:off x="6248400" y="20193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在线学习，不需要等待episode结束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6248400" y="22860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不需要环境模型，直接从经验学习</a:t>
            </a:r>
            <a:endParaRPr lang="en-US" sz="1200" dirty="0"/>
          </a:p>
        </p:txBody>
      </p:sp>
      <p:sp>
        <p:nvSpPr>
          <p:cNvPr id="46" name="Text 18"/>
          <p:cNvSpPr/>
          <p:nvPr/>
        </p:nvSpPr>
        <p:spPr>
          <a:xfrm>
            <a:off x="6248400" y="25527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在合适条件下有收敛保证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6400800" y="4114800"/>
            <a:ext cx="6583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TD 是强化学习体系的"底层更新机制" </a:t>
            </a:r>
            <a:endParaRPr lang="en-US" sz="1350" dirty="0"/>
          </a:p>
        </p:txBody>
      </p:sp>
      <p:sp>
        <p:nvSpPr>
          <p:cNvPr id="48" name="Text 20"/>
          <p:cNvSpPr/>
          <p:nvPr/>
        </p:nvSpPr>
        <p:spPr>
          <a:xfrm>
            <a:off x="6248400" y="39624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715000"/>
            <a:ext cx="11430000" cy="7620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进阶</a:t>
            </a:r>
            <a:r>
              <a:rPr lang="zh-CN" alt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和</a:t>
            </a:r>
            <a:r>
              <a:rPr lang="en-US" sz="2250" b="1" dirty="0">
                <a:solidFill>
                  <a:srgbClr val="2E8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推荐</a:t>
            </a:r>
            <a:endParaRPr lang="en-US" sz="2250" b="1" dirty="0">
              <a:solidFill>
                <a:srgbClr val="2E8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pic>
        <p:nvPicPr>
          <p:cNvPr id="28" name="图片 27" descr="深度学习入门4_强化学习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78890"/>
            <a:ext cx="2423795" cy="3506470"/>
          </a:xfrm>
          <a:prstGeom prst="rect">
            <a:avLst/>
          </a:prstGeom>
        </p:spPr>
      </p:pic>
      <p:pic>
        <p:nvPicPr>
          <p:cNvPr id="29" name="图片 28">
            <a:hlinkClick r:id="rId5" action="ppaction://hlinkfil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8505" y="1233170"/>
            <a:ext cx="3949065" cy="3486150"/>
          </a:xfrm>
          <a:prstGeom prst="rect">
            <a:avLst/>
          </a:prstGeom>
        </p:spPr>
      </p:pic>
      <p:pic>
        <p:nvPicPr>
          <p:cNvPr id="30" name="图片 29">
            <a:hlinkClick r:id="rId7" action="ppaction://hlinkfile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4615" y="1233170"/>
            <a:ext cx="4000500" cy="3473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2221</Words>
  <Application>WPS 演示</Application>
  <PresentationFormat>On-screen Show (16:9)</PresentationFormat>
  <Paragraphs>334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Calibri</vt:lpstr>
      <vt:lpstr>ui-sans-serif</vt:lpstr>
      <vt:lpstr>Segoe Print</vt:lpstr>
      <vt:lpstr>ui-sans-serif</vt:lpstr>
      <vt:lpstr>ui-sans-serif</vt:lpstr>
      <vt:lpstr>微软雅黑</vt:lpstr>
      <vt:lpstr>Times New Roman</vt:lpstr>
      <vt:lpstr>Times New Roman</vt:lpstr>
      <vt:lpstr>Times New Roman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</cp:lastModifiedBy>
  <cp:revision>77</cp:revision>
  <dcterms:created xsi:type="dcterms:W3CDTF">2026-02-01T11:10:00Z</dcterms:created>
  <dcterms:modified xsi:type="dcterms:W3CDTF">2026-02-07T11:18:18Z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0AE2B32DAC5B4482B9D2AF83BD26AB26_13</vt:lpwstr>
  </property>
  <property fmtid="{D5CDD505-2E9C-101B-9397-08002B2CF9AE}" pid="3" name="KSOProductBuildVer">
    <vt:lpwstr>2052-12.1.0.24657</vt:lpwstr>
  </property>
</Properties>
</file>