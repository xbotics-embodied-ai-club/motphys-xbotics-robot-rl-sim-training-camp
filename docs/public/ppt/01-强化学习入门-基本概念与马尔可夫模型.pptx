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embeddedFontLst>
    <p:embeddedFont>
      <p:font typeface="Calibri" panose="020F0502020204030204"/>
      <p:regular r:id="rId15"/>
      <p:bold r:id="rId16"/>
      <p:italic r:id="rId17"/>
      <p:boldItalic r:id="rId18"/>
    </p:embeddedFont>
    <p:embeddedFont>
      <p:font typeface="Merriweather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2.fntdata"/><Relationship Id="rId25" Type="http://schemas.openxmlformats.org/officeDocument/2006/relationships/font" Target="fonts/font11.fntdata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tags" Target="../tags/tag10.xml"/><Relationship Id="rId7" Type="http://schemas.openxmlformats.org/officeDocument/2006/relationships/image" Target="../media/image28.png"/><Relationship Id="rId6" Type="http://schemas.openxmlformats.org/officeDocument/2006/relationships/tags" Target="../tags/tag9.xml"/><Relationship Id="rId5" Type="http://schemas.openxmlformats.org/officeDocument/2006/relationships/image" Target="../media/image27.png"/><Relationship Id="rId4" Type="http://schemas.openxmlformats.org/officeDocument/2006/relationships/tags" Target="../tags/tag8.xml"/><Relationship Id="rId3" Type="http://schemas.openxmlformats.org/officeDocument/2006/relationships/image" Target="../media/image26.png"/><Relationship Id="rId20" Type="http://schemas.openxmlformats.org/officeDocument/2006/relationships/notesSlide" Target="../notesSlides/notesSlide7.xml"/><Relationship Id="rId2" Type="http://schemas.openxmlformats.org/officeDocument/2006/relationships/tags" Target="../tags/tag7.xml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2.png"/><Relationship Id="rId17" Type="http://schemas.openxmlformats.org/officeDocument/2006/relationships/image" Target="../media/image31.png"/><Relationship Id="rId16" Type="http://schemas.openxmlformats.org/officeDocument/2006/relationships/image" Target="../media/image30.png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345663" y="1369814"/>
            <a:ext cx="5500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强化学习</a:t>
            </a:r>
            <a:r>
              <a:rPr lang="en-US" sz="48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(RL) </a:t>
            </a:r>
            <a:r>
              <a:rPr lang="en-US" sz="48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入门</a:t>
            </a:r>
            <a:endParaRPr lang="en-US" sz="4800" b="1" i="0" u="none" strike="noStrike" cap="none">
              <a:solidFill>
                <a:srgbClr val="1E3A8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009600" y="3849100"/>
            <a:ext cx="28731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基本概念与马尔可夫模型</a:t>
            </a:r>
            <a:endParaRPr lang="en-US" sz="1950" b="0" i="0" u="none" strike="noStrike" cap="none">
              <a:solidFill>
                <a:srgbClr val="64748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42000" y="3891560"/>
            <a:ext cx="5010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" name="Google Shape;88;p13"/>
          <p:cNvSpPr txBox="1"/>
          <p:nvPr/>
        </p:nvSpPr>
        <p:spPr>
          <a:xfrm>
            <a:off x="800100" y="4364235"/>
            <a:ext cx="5010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13"/>
          <p:cNvSpPr txBox="1"/>
          <p:nvPr/>
        </p:nvSpPr>
        <p:spPr>
          <a:xfrm>
            <a:off x="800100" y="4859535"/>
            <a:ext cx="5010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目标：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理解 RL 核心思想与数学基础 (MDP)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604900" y="2889563"/>
            <a:ext cx="5924550" cy="27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1657350"/>
            <a:ext cx="5238750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77025" y="1952625"/>
            <a:ext cx="46482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1657350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定义</a:t>
            </a:r>
            <a:endParaRPr lang="en-US" sz="2100" b="1" i="0" u="none" strike="noStrike" cap="none">
              <a:solidFill>
                <a:srgbClr val="2563E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2098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强化学习 (Reinforcement Learning) 研究智能体 (Agent) 如何在环境 (Environment) 中通过试错 (Trial-and-Error) 来最大化累积奖励。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409950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学习范式对比</a:t>
            </a:r>
            <a:endParaRPr lang="en-US" sz="2100" b="1" i="0" u="none" strike="noStrike" cap="none">
              <a:solidFill>
                <a:srgbClr val="2563E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677025" y="5476875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经典案例：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就像训练宠物狗，做对了给零食 (Reward)，做错了没奖励。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" name="Google Shape;102;p14"/>
          <p:cNvSpPr txBox="1"/>
          <p:nvPr>
            <p:custDataLst>
              <p:tags r:id="rId4"/>
            </p:custDataLst>
          </p:nvPr>
        </p:nvSpPr>
        <p:spPr>
          <a:xfrm>
            <a:off x="742950" y="39147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3" name="Google Shape;103;p14"/>
          <p:cNvSpPr txBox="1"/>
          <p:nvPr>
            <p:custDataLst>
              <p:tags r:id="rId5"/>
            </p:custDataLst>
          </p:nvPr>
        </p:nvSpPr>
        <p:spPr>
          <a:xfrm>
            <a:off x="809625" y="391477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监督学习：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有标签数据 (老师指导)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14"/>
          <p:cNvSpPr txBox="1"/>
          <p:nvPr>
            <p:custDataLst>
              <p:tags r:id="rId6"/>
            </p:custDataLst>
          </p:nvPr>
        </p:nvSpPr>
        <p:spPr>
          <a:xfrm>
            <a:off x="742950" y="43624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" name="Google Shape;105;p14"/>
          <p:cNvSpPr txBox="1"/>
          <p:nvPr>
            <p:custDataLst>
              <p:tags r:id="rId7"/>
            </p:custDataLst>
          </p:nvPr>
        </p:nvSpPr>
        <p:spPr>
          <a:xfrm>
            <a:off x="809625" y="436245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无监督学习：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无标签数据 (寻找结构)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" name="Google Shape;106;p14"/>
          <p:cNvSpPr txBox="1"/>
          <p:nvPr>
            <p:custDataLst>
              <p:tags r:id="rId8"/>
            </p:custDataLst>
          </p:nvPr>
        </p:nvSpPr>
        <p:spPr>
          <a:xfrm>
            <a:off x="742950" y="48101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" name="Google Shape;107;p14"/>
          <p:cNvSpPr txBox="1"/>
          <p:nvPr>
            <p:custDataLst>
              <p:tags r:id="rId9"/>
            </p:custDataLst>
          </p:nvPr>
        </p:nvSpPr>
        <p:spPr>
          <a:xfrm>
            <a:off x="809625" y="481012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强化学习：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交互式学习 (奖励/惩罚信号)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6677025" y="1952625"/>
            <a:ext cx="46482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什么是强化学习？</a:t>
            </a:r>
            <a:endParaRPr lang="en-US" sz="3150" b="1" i="0" u="none" strike="noStrike" cap="none">
              <a:solidFill>
                <a:srgbClr val="1E3A8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1657350"/>
            <a:ext cx="5238750" cy="49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77025" y="2457450"/>
            <a:ext cx="46482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6677025" y="1952625"/>
            <a:ext cx="488061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互动示例：迷宫游戏</a:t>
            </a:r>
            <a:endParaRPr lang="en-US" sz="2100" b="1" i="0" u="none" strike="noStrike" cap="none">
              <a:solidFill>
                <a:srgbClr val="2563E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77025" y="2457450"/>
            <a:ext cx="46482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6848475" y="49815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915150" y="4981575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Agent: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小机器人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848475" y="54292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915150" y="5429250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State: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坐标   (  x  ,  y  )  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848475" y="5876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915150" y="5876925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Reward: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终点 +100，撞墙 -1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71500" y="4471987"/>
            <a:ext cx="16999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2271414" y="4471987"/>
            <a:ext cx="6999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2971353" y="4471987"/>
            <a:ext cx="28388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571500" y="5072062"/>
            <a:ext cx="16999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2271414" y="5072062"/>
            <a:ext cx="6999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2971353" y="5072062"/>
            <a:ext cx="28388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RL 的“四大天王”——核心要素</a:t>
            </a:r>
            <a:endParaRPr lang="en-US" sz="3150" b="1" i="0" u="none" strike="noStrike" cap="none">
              <a:solidFill>
                <a:srgbClr val="1E3A8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2233295"/>
            <a:ext cx="5525135" cy="2838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1657350"/>
            <a:ext cx="5238750" cy="462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4800600"/>
            <a:ext cx="52387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571500" y="2000250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基本流程</a:t>
            </a:r>
            <a:endParaRPr lang="en-US" sz="2100" b="1" i="0" u="none" strike="noStrike" cap="none">
              <a:solidFill>
                <a:srgbClr val="2563E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52" name="Google Shape;152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81750" y="1657350"/>
            <a:ext cx="5238750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857250" y="2514600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952500" y="25146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Agent 观察当前状态    S   t   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800100" y="296227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952500" y="29622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Agent 基于策略   π   选择行动    A   t   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800100" y="340995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952500" y="34099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环境接收行动，转移到新状态    S    t   +   1    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800100" y="38576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4.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952500" y="38576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环境反馈奖励    R    t   +   1    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800100" y="430530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5.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952500" y="43053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循环往复...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800100" y="5010150"/>
            <a:ext cx="6286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目标：</a:t>
            </a:r>
            <a:endParaRPr lang="en-US" sz="1650" b="1" i="0" u="none" strike="noStrike" cap="none">
              <a:solidFill>
                <a:srgbClr val="33415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强化学习的交互循环</a:t>
            </a:r>
            <a:endParaRPr lang="en-US" sz="3150" b="1" i="0" u="none" strike="noStrike" cap="none">
              <a:solidFill>
                <a:srgbClr val="1E3A8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85" y="1917700"/>
            <a:ext cx="5594985" cy="4184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1657350"/>
            <a:ext cx="5238750" cy="462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719214"/>
            <a:ext cx="5238750" cy="56242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571500" y="2671464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马尔可夫性质 (Markov Property)</a:t>
            </a:r>
            <a:endParaRPr lang="en-US" sz="2100" b="1" i="0" u="none" strike="noStrike" cap="none">
              <a:solidFill>
                <a:srgbClr val="2563E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571500" y="3223914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“未来只取决于现在，与过去无关。”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571500" y="4472136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通俗理解：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只要知道“我在哪”，不需要知道“我怎么来的”，就能决定下一步去哪。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81750" y="1657350"/>
            <a:ext cx="5238750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数学基础：马尔可夫模型</a:t>
            </a:r>
            <a:endParaRPr lang="en-US" sz="3150" b="1" i="0" u="none" strike="noStrike" cap="none">
              <a:solidFill>
                <a:srgbClr val="1E3A8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225" y="3717925"/>
            <a:ext cx="3961765" cy="5645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695598"/>
            <a:ext cx="5238750" cy="4552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3593008"/>
            <a:ext cx="5238750" cy="81498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866775" y="1990873"/>
            <a:ext cx="488061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MDP 五元组</a:t>
            </a:r>
            <a:endParaRPr lang="en-US" sz="2100" b="1" i="0" u="none" strike="noStrike" cap="none">
              <a:solidFill>
                <a:srgbClr val="2563E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6381750" y="2545258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核心目标：最大化回报</a:t>
            </a:r>
            <a:endParaRPr lang="en-US" sz="2100" b="1" i="0" u="none" strike="noStrike" cap="none">
              <a:solidFill>
                <a:srgbClr val="2563E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6381750" y="309770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折扣因子   γ  ∈  [  0  ,  1  ]   决定了目光的长远。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381750" y="4598491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如果   γ  ≈  0  ，则是“近视” (只看当下)；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如果   γ  ≈  1  ，则是“远见” (注重未来)。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866775" y="2495698"/>
            <a:ext cx="4648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状态集 (States)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866775" y="3187154"/>
            <a:ext cx="4648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行动集 (Actions)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866775" y="3878609"/>
            <a:ext cx="4648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状态转移概率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866775" y="4570065"/>
            <a:ext cx="4648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奖励函数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866775" y="5261520"/>
            <a:ext cx="4648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γ: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折扣因子 (Discount Factor)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5" name="Google Shape;195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66775" y="2724298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66775" y="3415754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66775" y="4107209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66775" y="479866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66775" y="5490120"/>
            <a:ext cx="1524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马尔可夫决策过程 (MDP)</a:t>
            </a:r>
            <a:endParaRPr lang="en-US" sz="3150" b="1" i="0" u="none" strike="noStrike" cap="none">
              <a:solidFill>
                <a:srgbClr val="1E3A8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3475" y="5366385"/>
            <a:ext cx="5069205" cy="987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952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523827"/>
            <a:ext cx="5238750" cy="2896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6381750" y="2488555"/>
            <a:ext cx="5238750" cy="2966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866775" y="4362152"/>
            <a:ext cx="4648200" cy="571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6677025" y="4349948"/>
            <a:ext cx="4648200" cy="61957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>
            <p:custDataLst>
              <p:tags r:id="rId10"/>
            </p:custDataLst>
          </p:nvPr>
        </p:nvSpPr>
        <p:spPr>
          <a:xfrm>
            <a:off x="866775" y="2819102"/>
            <a:ext cx="488061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状态价值函数    v   π   (  s  )  </a:t>
            </a:r>
            <a:endParaRPr lang="en-US" sz="2100" b="1" i="0" u="none" strike="noStrike" cap="none">
              <a:solidFill>
                <a:srgbClr val="2563E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2" name="Google Shape;212;p19"/>
          <p:cNvSpPr txBox="1"/>
          <p:nvPr>
            <p:custDataLst>
              <p:tags r:id="rId11"/>
            </p:custDataLst>
          </p:nvPr>
        </p:nvSpPr>
        <p:spPr>
          <a:xfrm>
            <a:off x="866775" y="3371552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含义：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处于状态   s   有多好？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19"/>
          <p:cNvSpPr txBox="1"/>
          <p:nvPr>
            <p:custDataLst>
              <p:tags r:id="rId12"/>
            </p:custDataLst>
          </p:nvPr>
        </p:nvSpPr>
        <p:spPr>
          <a:xfrm>
            <a:off x="866775" y="3866852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从状态   s   出发，遵循策略   π   能获得的期望回报。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4" name="Google Shape;214;p19"/>
          <p:cNvSpPr txBox="1"/>
          <p:nvPr>
            <p:custDataLst>
              <p:tags r:id="rId13"/>
            </p:custDataLst>
          </p:nvPr>
        </p:nvSpPr>
        <p:spPr>
          <a:xfrm>
            <a:off x="6677025" y="2783830"/>
            <a:ext cx="4880610" cy="385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动作价值函数    q   π   (  s  ,  a  )  </a:t>
            </a:r>
            <a:endParaRPr lang="en-US" sz="2100" b="1" i="0" u="none" strike="noStrike" cap="none">
              <a:solidFill>
                <a:srgbClr val="2563E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5" name="Google Shape;215;p19"/>
          <p:cNvSpPr txBox="1"/>
          <p:nvPr>
            <p:custDataLst>
              <p:tags r:id="rId14"/>
            </p:custDataLst>
          </p:nvPr>
        </p:nvSpPr>
        <p:spPr>
          <a:xfrm>
            <a:off x="6677025" y="3359348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含义：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在状态   s   做动作   a   有多好？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6" name="Google Shape;216;p19"/>
          <p:cNvSpPr txBox="1"/>
          <p:nvPr>
            <p:custDataLst>
              <p:tags r:id="rId15"/>
            </p:custDataLst>
          </p:nvPr>
        </p:nvSpPr>
        <p:spPr>
          <a:xfrm>
            <a:off x="6677025" y="3854648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从   s   出发，执行   a  ，之后遵循策略   π   的期望回报。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求解 MDP 的关键：价值函数</a:t>
            </a:r>
            <a:endParaRPr lang="en-US" sz="3150" b="1" i="0" u="none" strike="noStrike" cap="none">
              <a:solidFill>
                <a:srgbClr val="1E3A8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6"/>
          <a:srcRect t="27375" b="17625"/>
          <a:stretch>
            <a:fillRect/>
          </a:stretch>
        </p:blipFill>
        <p:spPr>
          <a:xfrm>
            <a:off x="970915" y="4349750"/>
            <a:ext cx="4672965" cy="6172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7"/>
          <a:srcRect r="51384"/>
          <a:stretch>
            <a:fillRect/>
          </a:stretch>
        </p:blipFill>
        <p:spPr>
          <a:xfrm>
            <a:off x="7203440" y="4204335"/>
            <a:ext cx="3345815" cy="911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44385" y="5058410"/>
            <a:ext cx="3463925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-571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1976437"/>
            <a:ext cx="5238750" cy="39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71500" y="2824162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本课重点回顾</a:t>
            </a:r>
            <a:endParaRPr lang="en-US" sz="2100" b="1" i="0" u="none" strike="noStrike" cap="none">
              <a:solidFill>
                <a:srgbClr val="2563E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6667500" y="2262187"/>
            <a:ext cx="490061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下一步：如何求解？</a:t>
            </a:r>
            <a:endParaRPr lang="en-US" sz="2100" b="1" i="0" u="none" strike="noStrike" cap="none">
              <a:solidFill>
                <a:srgbClr val="2563E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6667500" y="2814637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既然有了价值函数的定义，我们如何计算它？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6667500" y="4652962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Q &amp; A</a:t>
            </a:r>
            <a:endParaRPr lang="en-US" sz="2100" b="1" i="0" u="none" strike="noStrike" cap="none">
              <a:solidFill>
                <a:srgbClr val="2563E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6667500" y="5186362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谢谢大家！欢迎提问。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742950" y="33289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809625" y="3328987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核心思想：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试错学习 (Trial-and-Error)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742950" y="37766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809625" y="3776662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四大要素：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Agent, Environment, State, Reward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742950" y="42243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809625" y="4224337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数学模型：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MDP 是 RL 的标准框架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742950" y="46720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809625" y="4672012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最终目标：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寻找最优策略    π   *   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8" name="Google Shape;238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67500" y="2300287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6838950" y="33099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6905625" y="3309937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动态规划 (Dynamic Programming)</a:t>
            </a:r>
            <a:endParaRPr lang="en-US" sz="1500" b="1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6838950" y="37576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6905625" y="3757612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蒙特卡洛方法 (Monte Carlo)</a:t>
            </a:r>
            <a:endParaRPr lang="en-US" sz="1500" b="1" i="0" u="none" strike="noStrike" cap="non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43" name="Google Shape;243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67500" y="469106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总结与展望</a:t>
            </a:r>
            <a:endParaRPr lang="en-US" sz="3150" b="1" i="0" u="none" strike="noStrike" cap="none">
              <a:solidFill>
                <a:srgbClr val="1E3A8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94.5,&quot;left&quot;:58.5,&quot;top&quot;:308.25,&quot;width&quot;:399}"/>
</p:tagLst>
</file>

<file path=ppt/tags/tag2.xml><?xml version="1.0" encoding="utf-8"?>
<p:tagLst xmlns:p="http://schemas.openxmlformats.org/presentationml/2006/main">
  <p:tag name="KSO_WM_DIAGRAM_VIRTUALLY_FRAME" val="{&quot;height&quot;:94.5,&quot;left&quot;:58.5,&quot;top&quot;:308.25,&quot;width&quot;:399}"/>
</p:tagLst>
</file>

<file path=ppt/tags/tag3.xml><?xml version="1.0" encoding="utf-8"?>
<p:tagLst xmlns:p="http://schemas.openxmlformats.org/presentationml/2006/main">
  <p:tag name="KSO_WM_DIAGRAM_VIRTUALLY_FRAME" val="{&quot;height&quot;:94.5,&quot;left&quot;:58.5,&quot;top&quot;:308.25,&quot;width&quot;:399}"/>
</p:tagLst>
</file>

<file path=ppt/tags/tag4.xml><?xml version="1.0" encoding="utf-8"?>
<p:tagLst xmlns:p="http://schemas.openxmlformats.org/presentationml/2006/main">
  <p:tag name="KSO_WM_DIAGRAM_VIRTUALLY_FRAME" val="{&quot;height&quot;:94.5,&quot;left&quot;:58.5,&quot;top&quot;:308.25,&quot;width&quot;:399}"/>
</p:tagLst>
</file>

<file path=ppt/tags/tag5.xml><?xml version="1.0" encoding="utf-8"?>
<p:tagLst xmlns:p="http://schemas.openxmlformats.org/presentationml/2006/main">
  <p:tag name="KSO_WM_DIAGRAM_VIRTUALLY_FRAME" val="{&quot;height&quot;:94.5,&quot;left&quot;:58.5,&quot;top&quot;:308.25,&quot;width&quot;:399}"/>
</p:tagLst>
</file>

<file path=ppt/tags/tag6.xml><?xml version="1.0" encoding="utf-8"?>
<p:tagLst xmlns:p="http://schemas.openxmlformats.org/presentationml/2006/main">
  <p:tag name="KSO_WM_DIAGRAM_VIRTUALLY_FRAME" val="{&quot;height&quot;:94.5,&quot;left&quot;:58.5,&quot;top&quot;:308.25,&quot;width&quot;:399}"/>
</p:tagLst>
</file>

<file path=ppt/tags/tag7.xml><?xml version="1.0" encoding="utf-8"?>
<p:tagLst xmlns:p="http://schemas.openxmlformats.org/presentationml/2006/main">
  <p:tag name="KSO_WM_DIAGRAM_VIRTUALLY_FRAME" val="{&quot;height&quot;:233.6014960629921,&quot;left&quot;:45,&quot;top&quot;:195.9492125984252,&quot;width&quot;:870}"/>
</p:tagLst>
</file>

<file path=ppt/tags/tag8.xml><?xml version="1.0" encoding="utf-8"?>
<p:tagLst xmlns:p="http://schemas.openxmlformats.org/presentationml/2006/main">
  <p:tag name="KSO_WM_DIAGRAM_VIRTUALLY_FRAME" val="{&quot;height&quot;:233.6014960629921,&quot;left&quot;:45,&quot;top&quot;:195.9492125984252,&quot;width&quot;:870}"/>
</p:tagLst>
</file>

<file path=ppt/tags/tag9.xml><?xml version="1.0" encoding="utf-8"?>
<p:tagLst xmlns:p="http://schemas.openxmlformats.org/presentationml/2006/main">
  <p:tag name="KSO_WM_DIAGRAM_VIRTUALLY_FRAME" val="{&quot;height&quot;:233.6014960629921,&quot;left&quot;:45,&quot;top&quot;:195.9492125984252,&quot;width&quot;:870}"/>
</p:tagLst>
</file>

<file path=ppt/tags/tag10.xml><?xml version="1.0" encoding="utf-8"?>
<p:tagLst xmlns:p="http://schemas.openxmlformats.org/presentationml/2006/main">
  <p:tag name="KSO_WM_DIAGRAM_VIRTUALLY_FRAME" val="{&quot;height&quot;:233.6014960629921,&quot;left&quot;:45,&quot;top&quot;:195.9492125984252,&quot;width&quot;:870}"/>
</p:tagLst>
</file>

<file path=ppt/tags/tag11.xml><?xml version="1.0" encoding="utf-8"?>
<p:tagLst xmlns:p="http://schemas.openxmlformats.org/presentationml/2006/main">
  <p:tag name="KSO_WM_DIAGRAM_VIRTUALLY_FRAME" val="{&quot;height&quot;:233.6014960629921,&quot;left&quot;:45,&quot;top&quot;:195.9492125984252,&quot;width&quot;:870}"/>
</p:tagLst>
</file>

<file path=ppt/tags/tag12.xml><?xml version="1.0" encoding="utf-8"?>
<p:tagLst xmlns:p="http://schemas.openxmlformats.org/presentationml/2006/main">
  <p:tag name="KSO_WM_DIAGRAM_VIRTUALLY_FRAME" val="{&quot;height&quot;:233.6014960629921,&quot;left&quot;:45,&quot;top&quot;:195.9492125984252,&quot;width&quot;:870}"/>
</p:tagLst>
</file>

<file path=ppt/tags/tag13.xml><?xml version="1.0" encoding="utf-8"?>
<p:tagLst xmlns:p="http://schemas.openxmlformats.org/presentationml/2006/main">
  <p:tag name="KSO_WM_DIAGRAM_VIRTUALLY_FRAME" val="{&quot;height&quot;:233.6014960629921,&quot;left&quot;:45,&quot;top&quot;:195.9492125984252,&quot;width&quot;:870}"/>
</p:tagLst>
</file>

<file path=ppt/tags/tag14.xml><?xml version="1.0" encoding="utf-8"?>
<p:tagLst xmlns:p="http://schemas.openxmlformats.org/presentationml/2006/main">
  <p:tag name="KSO_WM_DIAGRAM_VIRTUALLY_FRAME" val="{&quot;height&quot;:233.6014960629921,&quot;left&quot;:45,&quot;top&quot;:195.9492125984252,&quot;width&quot;:870}"/>
</p:tagLst>
</file>

<file path=ppt/tags/tag15.xml><?xml version="1.0" encoding="utf-8"?>
<p:tagLst xmlns:p="http://schemas.openxmlformats.org/presentationml/2006/main">
  <p:tag name="KSO_WM_DIAGRAM_VIRTUALLY_FRAME" val="{&quot;height&quot;:233.6014960629921,&quot;left&quot;:45,&quot;top&quot;:195.9492125984252,&quot;width&quot;:870}"/>
</p:tagLst>
</file>

<file path=ppt/tags/tag16.xml><?xml version="1.0" encoding="utf-8"?>
<p:tagLst xmlns:p="http://schemas.openxmlformats.org/presentationml/2006/main">
  <p:tag name="KSO_WM_DIAGRAM_VIRTUALLY_FRAME" val="{&quot;height&quot;:233.6014960629921,&quot;left&quot;:45,&quot;top&quot;:195.9492125984252,&quot;width&quot;:870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1208</Words>
  <Application>WPS 演示</Application>
  <PresentationFormat/>
  <Paragraphs>148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Merriweather</vt:lpstr>
      <vt:lpstr>DM Sans</vt:lpstr>
      <vt:lpstr>Times New Roman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Yan_1205</cp:lastModifiedBy>
  <cp:revision>4</cp:revision>
  <dcterms:created xsi:type="dcterms:W3CDTF">2025-11-23T00:48:00Z</dcterms:created>
  <dcterms:modified xsi:type="dcterms:W3CDTF">2025-11-23T06:58:56Z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03C96ED538F84FE5B66C8E2866D339BA_12</vt:lpwstr>
  </property>
  <property fmtid="{D5CDD505-2E9C-101B-9397-08002B2CF9AE}" pid="3" name="KSOProductBuildVer">
    <vt:lpwstr>2052-12.1.0.23542</vt:lpwstr>
  </property>
</Properties>
</file>