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8.svg" ContentType="image/svg+xml"/>
  <Override PartName="/ppt/media/image2.svg" ContentType="image/svg+xml"/>
  <Override PartName="/ppt/media/image31.svg" ContentType="image/svg+xml"/>
  <Override PartName="/ppt/media/image4.svg" ContentType="image/svg+xml"/>
  <Override PartName="/ppt/media/image40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57" r:id="rId11"/>
    <p:sldId id="258" r:id="rId12"/>
    <p:sldId id="259" r:id="rId13"/>
    <p:sldId id="284" r:id="rId14"/>
    <p:sldId id="260" r:id="rId15"/>
    <p:sldId id="261" r:id="rId16"/>
    <p:sldId id="262" r:id="rId17"/>
    <p:sldId id="263" r:id="rId18"/>
    <p:sldId id="264" r:id="rId19"/>
    <p:sldId id="265" r:id="rId20"/>
    <p:sldId id="280" r:id="rId21"/>
    <p:sldId id="283" r:id="rId22"/>
    <p:sldId id="267" r:id="rId23"/>
    <p:sldId id="268" r:id="rId24"/>
    <p:sldId id="269" r:id="rId25"/>
    <p:sldId id="282" r:id="rId26"/>
    <p:sldId id="270" r:id="rId27"/>
    <p:sldId id="271" r:id="rId28"/>
    <p:sldId id="272" r:id="rId29"/>
    <p:sldId id="273" r:id="rId30"/>
    <p:sldId id="274" r:id="rId31"/>
    <p:sldId id="281" r:id="rId32"/>
    <p:sldId id="275" r:id="rId33"/>
    <p:sldId id="276" r:id="rId34"/>
    <p:sldId id="277" r:id="rId35"/>
    <p:sldId id="278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5DFF"/>
    <a:srgbClr val="BDC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716" y="780"/>
      </p:cViewPr>
      <p:guideLst>
        <p:guide orient="horz" pos="15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关于强化学习核心求解方法的课程。今天，我们将深入探讨三种基础而强大的算法：策略迭代、值迭代和蒙特卡洛方法。无论你是刚入门的开发者，还是希望巩固基础的研究者，本课程都将为你提供清晰、深入的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我们正式开始之前，请允许我简要介绍一下今天的议程。首先，我们会快速回顾一下马尔可夫决策过程、价值函数和贝尔曼方程这些核心前置知识。接着，我们将逐一详细讲解策略迭代、值迭代和蒙特卡洛方法。之后，我们会对这三种方法进行横向对比，并讨论它们在实际项目中的选型策略。最后，进行总结并展望未来的学习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好，让我们进入第一部分：前置知识回顾。这部分内容是理解后续所有算法的基石，确保我们在同一频道上。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化学习的问题通常可以被建模为一个马尔可夫决策过程，简称MDP。它由一个五元组构成：S是状态空间，A是动作空间，P是状态转移概率，R是奖励函数，最后是折扣因子γ。这五个要素完整地描述了一个智能体与环境交互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化学习的问题通常可以被建模为一个马尔可夫决策过程，简称MDP。它由一个五元组构成：S是状态空间，A是动作空间，P是状态转移概率，R是奖励函数，最后是折扣因子γ。这五个要素完整地描述了一个智能体与环境交互的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评估一个策略的好坏，我们引入了价值函数的概念。主要有两种：状态价值函数V(s)，它衡量的是从某个状态s出发，遵循策略π能带来的长期价值；以及动作价值函数Q(s,a)，它更进了一步，衡量的是在状态s下，执行动作a，然后再遵循策略π的长期价值。Q函数是连接状态和动作的关键桥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贝尔曼方程是强化学习的核心数学工具，它将一个状态的价值与它后续状态的价值联系起来，形成了一种递归关系。贝尔曼期望方程描述了在给定策略下价值函数的关系，而贝尔曼最优方程则描述了最优价值函数的关系，其核心在于“max”操作，即通过选择最优动作来最大化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现在，我们进入第一个核心算法——策略迭代。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策略迭代的思想非常直观，它就像一个不断自我完善的过程。它交替进行两个步骤：策略评估和策略改进。首先，我们固定当前的策略，去计算它的价值函数，这叫策略评估。然后，我们利用这个价值函数，通过贪婪的方式来改进我们的策略，得到一个更好的策略。我们不断重复这个过程，直到策略不再发生变化，这时我们就得到了最优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策略评估的具体步骤。它的目标是，给定一个策略π，精确地计算出每个状态的价值V^π(s)。我们从一个初始的价值函数（比如全零）开始，然后反复使用贝尔曼期望方程进行迭代更新，直到价值函数的变化量小于一个我们设定的阈值ε，我们就认为它收敛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完成策略评估后，我们就进入了策略改进阶段。我们利用刚刚得到的状态价值函数V，去计算出每个状态-动作对的Q值。然后，对于每个状态，我们都贪婪地选择那个能最大化Q值的动作，作为我们新策略在该状态下的唯一选择。策略改进定理保证了，这个新策略的性能不会比原来的策略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策略迭代的伪代码。可以看到，整个算法的框架非常清晰。我们首先初始化一个策略，然后进入一个循环，在循环中不断地进行策略评估和策略改进，直到新策略和旧策略完全一样，即策略达到稳定，这时我们就找到了最优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首次访问MC控制的伪代码。我们首先初始化Q函数和访问计数器。然后，在每个回合中，我们遵循ε-贪婪策略生成一个轨迹。接着，我们从轨迹的末尾开始，逆序计算每个步骤的回报G，并更新首次出现的状态-动作对的Q值。重复这个过程足够多的回合后，Q函数就会收敛到最优动作价值函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接下来，我们学习第二种算法——值迭代。它可以看作是策略迭代的一种优化形式。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值迭代的核心思想非常巧妙，它将策略迭代中“策略评估”和“策略改进”这两个步骤合并成了一个步骤。它不再显式地维护一个策略，而是直接对价值函数进行迭代。它的迭代公式直接来源于贝尔曼最优方程，在每次更新价值时，都通过取max来完成一次隐含的策略改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这是值迭代的伪代码。大家可以看到，它的结构比策略迭代更简洁。我们只需要迭代更新价值函数，直到它收敛。价值函数收敛后，我们再根据这个最优价值函数V*，通过一次贪婪选择，就可以提取出最优策略。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首次访问MC控制的伪代码。我们首先初始化Q函数和访问计数器。然后，在每个回合中，我们遵循ε-贪婪策略生成一个轨迹。接着，我们从轨迹的末尾开始，逆序计算每个步骤的回报G，并更新首次出现的状态-动作对的Q值。重复这个过程足够多的回合后，Q函数就会收敛到最优动作价值函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面两种算法都属于有模型方法，它们需要知道环境的完整模型，也就是状态转移概率P。但在很多现实问题中，我们并不知道环境模型。这时，无模型方法就派上用场了。接下来我们介绍最基础的无模型方法——蒙特卡洛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蒙特卡洛方法的核心思想非常直观，它就像是通过不断地“试错”来学习。它不需要任何环境模型，而是直接与环境进行交互，生成大量的完整轨迹，然后通过计算这些轨迹中状态（或状态-动作对）的平均回报来估计其价值。它的理论基础是大数定律，只要我们采样的轨迹足够多，我们的估计就会无限接近真实的期望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蒙特卡洛的策略评估主要有两种方式：首次访问和每次访问。首次访问MC指的是，在一个轨迹中，我们只考虑状态第一次出现时的回报来更新价值。而每次访问MC则是，状态每次出现，我们都用它对应的回报来更新价值。在样本量足够大的情况下，这两种方法会收敛到相同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蒙特卡洛控制中，我们面临一个经典的困境：探索与利用的平衡。“利用”是指选择当前我们认为最好的动作，而“探索”则是尝试一些新的动作，看看是否能找到更好的。为了解决这个问题，我们通常采用ε-贪婪策略。它以大概率（1-ε）选择当前最优动作，同时以小概率（ε）随机选择一个动作，从而保证了对环境的持续探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首次访问MC控制的伪代码。我们首先初始化Q函数和访问计数器。然后，在每个回合中，我们遵循ε-贪婪策略生成一个轨迹。接着，我们从轨迹的末尾开始，逆序计算每个步骤的回报G，并更新首次出现的状态-动作对的Q值。重复这个过程足够多的回合后，Q函数就会收敛到最优动作价值函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首次访问MC控制的伪代码。我们首先初始化Q函数和访问计数器。然后，在每个回合中，我们遵循ε-贪婪策略生成一个轨迹。接着，我们从轨迹的末尾开始，逆序计算每个步骤的回报G，并更新首次出现的状态-动作对的Q值。重复这个过程足够多的回合后，Q函数就会收敛到最优动作价值函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我们已经学习了三种核心算法。现在，让我们对它们进行一个全面的对比，并讨论在实际项目中应该如何选择。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总结了三种方法的核心差异。策略迭代和值迭代需要环境模型，因此它们的收敛速度和样本效率都很高，但只适用于状态空间较小的问题。而蒙特卡洛方法最大的优势在于它是无模型的，因此非常灵活，特别适合处理大规模、高维的复杂问题，比如复杂的机器人抓取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最后，让我们对今天的内容进行一个简要的总结，并看看未来可以向哪些方向继续深入学习。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今天我们学习了策略迭代、值迭代和蒙特卡洛这三种强化学习的核心求解方法。策略迭代和值迭代是有模型方法的代表，它们高效但依赖于环境模型。蒙特卡洛方法则是无模型方法的入门，它通过采样来学习，为解决复杂问题提供了可能。这三种方法是后续更高级算法，如时序差分方法和深度强化学习的基础。希望通过本次课程，大家能对这些经典算法有一个清晰而深入的理解。我的分享到此结束，谢谢大家！接下来是问答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.GIF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tags" Target="../tags/tag14.xml"/><Relationship Id="rId19" Type="http://schemas.openxmlformats.org/officeDocument/2006/relationships/tags" Target="../tags/tag24.xml"/><Relationship Id="rId18" Type="http://schemas.openxmlformats.org/officeDocument/2006/relationships/image" Target="../media/image19.png"/><Relationship Id="rId17" Type="http://schemas.openxmlformats.org/officeDocument/2006/relationships/tags" Target="../tags/tag23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6.svg"/><Relationship Id="rId10" Type="http://schemas.openxmlformats.org/officeDocument/2006/relationships/image" Target="../media/image16.png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5.png"/><Relationship Id="rId14" Type="http://schemas.openxmlformats.org/officeDocument/2006/relationships/tags" Target="../tags/tag35.xml"/><Relationship Id="rId13" Type="http://schemas.openxmlformats.org/officeDocument/2006/relationships/image" Target="../media/image24.png"/><Relationship Id="rId12" Type="http://schemas.openxmlformats.org/officeDocument/2006/relationships/tags" Target="../tags/tag34.xml"/><Relationship Id="rId11" Type="http://schemas.openxmlformats.org/officeDocument/2006/relationships/image" Target="../media/image23.png"/><Relationship Id="rId10" Type="http://schemas.openxmlformats.org/officeDocument/2006/relationships/tags" Target="../tags/tag33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50.xml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6.svg"/><Relationship Id="rId3" Type="http://schemas.openxmlformats.org/officeDocument/2006/relationships/image" Target="../media/image16.png"/><Relationship Id="rId2" Type="http://schemas.openxmlformats.org/officeDocument/2006/relationships/tags" Target="../tags/tag52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1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image" Target="../media/image40.svg"/><Relationship Id="rId1" Type="http://schemas.openxmlformats.org/officeDocument/2006/relationships/tags" Target="../tags/tag5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18.svg"/><Relationship Id="rId3" Type="http://schemas.openxmlformats.org/officeDocument/2006/relationships/image" Target="../media/image29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6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60.png"/><Relationship Id="rId7" Type="http://schemas.openxmlformats.org/officeDocument/2006/relationships/tags" Target="../tags/tag64.xml"/><Relationship Id="rId6" Type="http://schemas.openxmlformats.org/officeDocument/2006/relationships/image" Target="../media/image59.png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4" Type="http://schemas.openxmlformats.org/officeDocument/2006/relationships/notesSlide" Target="../notesSlides/notesSlide23.xml"/><Relationship Id="rId13" Type="http://schemas.openxmlformats.org/officeDocument/2006/relationships/slideLayout" Target="../slideLayouts/slideLayout14.xml"/><Relationship Id="rId12" Type="http://schemas.openxmlformats.org/officeDocument/2006/relationships/image" Target="../media/image62.png"/><Relationship Id="rId11" Type="http://schemas.openxmlformats.org/officeDocument/2006/relationships/tags" Target="../tags/tag66.xml"/><Relationship Id="rId10" Type="http://schemas.openxmlformats.org/officeDocument/2006/relationships/image" Target="../media/image61.png"/><Relationship Id="rId1" Type="http://schemas.openxmlformats.org/officeDocument/2006/relationships/tags" Target="../tags/tag5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2" Type="http://schemas.openxmlformats.org/officeDocument/2006/relationships/notesSlide" Target="../notesSlides/notesSlide27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70.svg"/><Relationship Id="rId2" Type="http://schemas.openxmlformats.org/officeDocument/2006/relationships/tags" Target="../tags/tag68.xml"/><Relationship Id="rId19" Type="http://schemas.openxmlformats.org/officeDocument/2006/relationships/image" Target="../media/image69.png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image" Target="../media/image68.svg"/><Relationship Id="rId15" Type="http://schemas.openxmlformats.org/officeDocument/2006/relationships/image" Target="../media/image67.png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image" Target="../media/image66.svg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强化学习核心求解方法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329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65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3619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 | 值迭代 | 蒙特卡洛方法</a:t>
            </a:r>
            <a:endParaRPr lang="en-US" sz="11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60960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7">
            <a:off x="762004" y="12128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524000" y="16510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前置知识回顾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097">
            <a:off x="762004" y="22542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25146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524000" y="25146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</a:t>
            </a:r>
            <a:r>
              <a:rPr lang="en-US" sz="20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(Policy Iteration)</a:t>
            </a:r>
            <a:endParaRPr lang="en-US" sz="2000" b="1" i="0" u="none" strike="noStrike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4097">
            <a:off x="762004" y="31178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762000" y="33782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1524000" y="33782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值迭代 (Value Iteration)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4097">
            <a:off x="762004" y="39814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62000" y="42418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524000" y="42418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蒙特卡洛方法 (Monte Carlo)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4097">
            <a:off x="762004" y="48450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762000" y="51054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1524000" y="51054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方法对比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4097">
            <a:off x="762004" y="5708650"/>
            <a:ext cx="106553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762000" y="5969000"/>
            <a:ext cx="50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1524000" y="59690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2413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57290">
            <a:off x="5715053" y="3232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2286000" y="3492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前置知识回顾</a:t>
            </a:r>
            <a:endParaRPr lang="en-US" sz="11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马尔可夫决策过程 (MDP)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27200" y="1828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S状态空间 (State Space)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727200" y="2209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S: 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所有可能状态的集合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1955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15200" y="1828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A动作空间 (Action Space)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315200" y="2209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A: 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所有可能动作的集合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048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479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27200" y="3352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P(s'|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r>
              <a:rPr lang="en-US" sz="1800" b="1" i="0" u="none" strike="noStrike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状态转移概率</a:t>
            </a:r>
            <a:endParaRPr lang="en-US" sz="1800" b="1" i="0" u="none" strike="noStrike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727200" y="3733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P(s'|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</a:t>
            </a: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): 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从状态s执行动作a到s'的概率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3048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4800" y="3479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15200" y="3352800"/>
            <a:ext cx="5208494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R(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s,a,s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')</a:t>
            </a:r>
            <a:r>
              <a:rPr lang="en-US" sz="1800" b="1" i="0" u="none" strike="noStrike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奖励函数</a:t>
            </a:r>
            <a:r>
              <a:rPr lang="en-US" sz="1800" b="1" i="0" u="none" strike="noStrike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(Reward Function)</a:t>
            </a:r>
            <a:endParaRPr lang="en-US" sz="1800" b="1" i="0" u="none" strike="noStrike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315200" y="3733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R(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s,a,s</a:t>
            </a: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'): 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转移过程获得的即时反馈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6800" y="5003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27200" y="4876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γ</a:t>
            </a:r>
            <a:r>
              <a:rPr lang="en-US" sz="1800" b="1" i="0" u="none" strike="noStrike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折扣因子</a:t>
            </a:r>
            <a:r>
              <a:rPr lang="en-US" sz="1800" b="1" i="0" u="none" strike="noStrike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(Discount Factor)</a:t>
            </a:r>
            <a:endParaRPr lang="en-US" sz="1800" b="1" i="0" u="none" strike="noStrike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727200" y="5257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γ: </a:t>
            </a: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未来奖励的当前价值权重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4572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50038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15200" y="4876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MDP </a:t>
            </a:r>
            <a:r>
              <a:rPr lang="en-US" sz="18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五元组</a:t>
            </a:r>
            <a:r>
              <a:rPr lang="en-US" sz="1800" b="1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&lt;S, A, P, R, </a:t>
            </a:r>
            <a:r>
              <a:rPr lang="en-US" sz="1800" b="1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γ</a:t>
            </a:r>
            <a:r>
              <a:rPr lang="en-US" sz="1800" b="1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&gt;</a:t>
            </a:r>
            <a:endParaRPr lang="en-US" sz="1800" b="1" u="none" strike="noStrike" dirty="0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315200" y="5257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完整描述智能体与环境的交互过程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Frozenlake-v1</a:t>
            </a:r>
            <a:r>
              <a:rPr lang="zh-CN" alt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环境介绍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文本框 36"/>
          <p:cNvSpPr txBox="1"/>
          <p:nvPr/>
        </p:nvSpPr>
        <p:spPr>
          <a:xfrm>
            <a:off x="709295" y="1509395"/>
            <a:ext cx="5859145" cy="1583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环境概述</a:t>
            </a:r>
            <a:endParaRPr lang="en-US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SzTx/>
              <a:defRPr/>
            </a:pPr>
            <a:r>
              <a:rPr 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Frozenlake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是经典的网格世界。智能体需从起点（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s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）出发，避开洞（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H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），在光滑湖面（移动方向随机）找到通往目标（</a:t>
            </a:r>
            <a:r>
              <a:rPr lang="en-US" altLang="zh-CN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G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）的安全路径</a:t>
            </a:r>
            <a:endParaRPr lang="zh-CN" altLang="en-US" sz="16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62000" y="3228975"/>
            <a:ext cx="4064000" cy="2944495"/>
            <a:chOff x="1200" y="5283"/>
            <a:chExt cx="6400" cy="4637"/>
          </a:xfrm>
        </p:grpSpPr>
        <p:pic>
          <p:nvPicPr>
            <p:cNvPr id="29" name="图片 28" descr="frozen_lak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" y="6080"/>
              <a:ext cx="3840" cy="3840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/>
          </p:nvSpPr>
          <p:spPr>
            <a:xfrm>
              <a:off x="1200" y="5283"/>
              <a:ext cx="64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165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4x4</a:t>
              </a:r>
              <a:r>
                <a:rPr lang="zh-CN" altLang="en-US" sz="2000" b="1">
                  <a:solidFill>
                    <a:srgbClr val="165D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网格世界</a:t>
              </a:r>
              <a:endParaRPr lang="zh-CN" altLang="en-US" sz="2000" b="1">
                <a:solidFill>
                  <a:srgbClr val="16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260590" y="1509395"/>
            <a:ext cx="406400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观测空间</a:t>
            </a:r>
            <a:endParaRPr lang="en-US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260590" y="2113280"/>
            <a:ext cx="4752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离散空间（16），用0-15的整数表示当前位置</a:t>
            </a:r>
            <a:endParaRPr lang="zh-CN" altLang="en-US" sz="1600" b="1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260590" y="2674620"/>
            <a:ext cx="406400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动作</a:t>
            </a:r>
            <a:r>
              <a:rPr 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空间</a:t>
            </a:r>
            <a:endParaRPr lang="en-US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260590" y="3839845"/>
            <a:ext cx="406400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奖励函数</a:t>
            </a:r>
            <a:endParaRPr lang="zh-CN" altLang="en-US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260590" y="5005070"/>
            <a:ext cx="406400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zh-CN" alt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终止条件</a:t>
            </a:r>
            <a:endParaRPr lang="zh-CN" altLang="en-US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260590" y="32162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离散空间（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），对应上（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），下（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），左（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），右（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260590" y="431546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到达目标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</a:rPr>
              <a:t>，其他情况均为</a:t>
            </a:r>
            <a:r>
              <a:rPr lang="en-US" altLang="zh-CN" sz="1600" b="1"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endParaRPr lang="en-US" altLang="zh-CN" sz="16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60590" y="548068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到达目标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</a:rPr>
              <a:t>，掉入冰冻</a:t>
            </a:r>
            <a:r>
              <a:rPr lang="en-US" altLang="zh-CN" sz="1600" b="1">
                <a:latin typeface="Arial" panose="020B0604020202020204" pitchFamily="34" charset="0"/>
                <a:ea typeface="微软雅黑" panose="020B0503020204020204" pitchFamily="34" charset="-122"/>
              </a:rPr>
              <a:t>H</a:t>
            </a:r>
            <a:r>
              <a:rPr lang="zh-CN" altLang="en-US" sz="1600" b="1">
                <a:latin typeface="Arial" panose="020B0604020202020204" pitchFamily="34" charset="0"/>
                <a:ea typeface="微软雅黑" panose="020B0503020204020204" pitchFamily="34" charset="-122"/>
              </a:rPr>
              <a:t>或达到最大步</a:t>
            </a:r>
            <a:endParaRPr lang="zh-CN" altLang="en-US" sz="1600" b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价值函数 (Value Function)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473200" y="1778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状态价值函数 V</a:t>
            </a:r>
            <a:r>
              <a:rPr lang="en-US" sz="1600" b="1" i="0" u="none" strike="noStrike" baseline="-3000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(s)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2286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从状态s出发</a:t>
            </a:r>
            <a:r>
              <a:rPr lang="en-US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遵循</a:t>
            </a:r>
            <a:r>
              <a:rPr lang="en-US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</a:t>
            </a:r>
            <a:r>
              <a:rPr lang="en-US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π的未来累积奖励期望。</a:t>
            </a:r>
            <a:endParaRPr lang="en-US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048000"/>
            <a:ext cx="4572000" cy="762000"/>
          </a:xfrm>
          <a:prstGeom prst="roundRect">
            <a:avLst>
              <a:gd name="adj" fmla="val 6666"/>
            </a:avLst>
          </a:prstGeom>
          <a:solidFill>
            <a:schemeClr val="bg1"/>
          </a:solidFill>
          <a:ln w="12700" cap="flat" cmpd="sng">
            <a:solidFill>
              <a:srgbClr val="BDC0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350000" y="1524000"/>
            <a:ext cx="5080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061200" y="1778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动作价值函数 Q</a:t>
            </a:r>
            <a:r>
              <a:rPr lang="en-US" sz="1600" b="1" i="0" u="none" strike="noStrike" baseline="-3000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(s,a)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604000" y="2286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从状态s出发，执行动作a后遵循策略</a:t>
            </a:r>
            <a:r>
              <a:rPr lang="en-US" sz="14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π的未来累积奖励期望。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6604000" y="3048000"/>
            <a:ext cx="4572000" cy="762000"/>
          </a:xfrm>
          <a:prstGeom prst="roundRect">
            <a:avLst>
              <a:gd name="adj" fmla="val 6666"/>
            </a:avLst>
          </a:prstGeom>
          <a:solidFill>
            <a:schemeClr val="bg1"/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857375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 cap="flat" cmpd="sng">
            <a:solidFill>
              <a:srgbClr val="165D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5181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029200"/>
            <a:ext cx="965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核心区别：</a:t>
            </a:r>
            <a:r>
              <a:rPr lang="en-US" sz="1600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状态价值函数</a:t>
            </a:r>
            <a:r>
              <a:rPr lang="en-US" sz="1600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V(s) </a:t>
            </a:r>
            <a:r>
              <a:rPr lang="en-US" sz="1600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评估状态本身的价值，而动作价值函数</a:t>
            </a:r>
            <a:r>
              <a:rPr lang="en-US" sz="1600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Q(</a:t>
            </a:r>
            <a:r>
              <a:rPr lang="en-US" sz="1600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</a:t>
            </a:r>
            <a:r>
              <a:rPr lang="en-US" sz="1600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) </a:t>
            </a:r>
            <a:r>
              <a:rPr lang="en-US" sz="1600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则评估在特定状态下执行特定动作的价值，是连接状态与动作的关键桥梁</a:t>
            </a:r>
            <a:r>
              <a:rPr lang="en-US" sz="1600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i="0" u="none" strike="noStrike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557655" y="3143250"/>
            <a:ext cx="3489230" cy="540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680835" y="3143250"/>
            <a:ext cx="4444615" cy="54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02865" y="5772785"/>
            <a:ext cx="3525058" cy="3960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473200" y="5709285"/>
            <a:ext cx="1301750" cy="371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600" b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二者关系：</a:t>
            </a:r>
            <a:endParaRPr lang="en-US" sz="1600" b="1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贝尔曼方程 (Bellman Equation)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贝尔曼期望方程 (针对任意策略 π)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223000" y="2032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9" name="Connector 9"/>
          <p:cNvCxnSpPr/>
          <p:nvPr>
            <p:custDataLst>
              <p:tags r:id="rId4"/>
            </p:custDataLst>
          </p:nvPr>
        </p:nvCxnSpPr>
        <p:spPr>
          <a:xfrm rot="-4092">
            <a:off x="762004" y="354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762000" y="38100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贝尔曼最优方程 (针对最优策略 π)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762000" y="4318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6223000" y="4318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56945" y="2353310"/>
            <a:ext cx="4837838" cy="72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36030" y="2351405"/>
            <a:ext cx="4980618" cy="720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56945" y="4503420"/>
            <a:ext cx="4802238" cy="900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46520" y="4683760"/>
            <a:ext cx="4775057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241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69">
            <a:off x="5588040" y="2978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2286000" y="330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 (Policy Iteration)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策略迭代：核心思想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651000" y="15240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交替执行策略评估与策略改进，逐步收敛到最优策略。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048000" y="4699000"/>
            <a:ext cx="6096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810000" y="4927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重复，直到策略不再变化，得到最优策略。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1016000" y="2311400"/>
            <a:ext cx="9652000" cy="1524000"/>
            <a:chOff x="1600" y="3400"/>
            <a:chExt cx="15200" cy="2400"/>
          </a:xfrm>
        </p:grpSpPr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1600" y="3400"/>
              <a:ext cx="6400" cy="24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127000" dist="63500" dir="54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grpSp>
          <p:nvGrpSpPr>
            <p:cNvPr id="23" name="组合 22"/>
            <p:cNvGrpSpPr/>
            <p:nvPr>
              <p:custDataLst>
                <p:tags r:id="rId3"/>
              </p:custDataLst>
            </p:nvPr>
          </p:nvGrpSpPr>
          <p:grpSpPr>
            <a:xfrm>
              <a:off x="2800" y="3400"/>
              <a:ext cx="14000" cy="2400"/>
              <a:chOff x="2800" y="3400"/>
              <a:chExt cx="14000" cy="2400"/>
            </a:xfrm>
          </p:grpSpPr>
          <p:sp>
            <p:nvSpPr>
              <p:cNvPr id="7" name="AutoShape 7"/>
              <p:cNvSpPr/>
              <p:nvPr>
                <p:custDataLst>
                  <p:tags r:id="rId4"/>
                </p:custDataLst>
              </p:nvPr>
            </p:nvSpPr>
            <p:spPr>
              <a:xfrm>
                <a:off x="2800" y="3800"/>
                <a:ext cx="4800" cy="48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800" b="1" i="0" u="none" strike="noStrike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策略评估</a:t>
                </a:r>
                <a:endParaRPr lang="en-US" sz="1800" b="1" i="0" u="none" strike="noStrike">
                  <a:solidFill>
                    <a:srgbClr val="33333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8" name="AutoShape 8"/>
              <p:cNvSpPr/>
              <p:nvPr>
                <p:custDataLst>
                  <p:tags r:id="rId5"/>
                </p:custDataLst>
              </p:nvPr>
            </p:nvSpPr>
            <p:spPr>
              <a:xfrm>
                <a:off x="2800" y="4400"/>
                <a:ext cx="4800" cy="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indent="0" algn="l">
                  <a:lnSpc>
                    <a:spcPct val="117000"/>
                  </a:lnSpc>
                  <a:defRPr/>
                </a:pPr>
                <a:r>
                  <a:rPr lang="en-US" sz="1600" b="1" i="0" u="none" strike="noStrike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固定策略 π，求解其价值函数 V</a:t>
                </a:r>
                <a:r>
                  <a:rPr lang="en-US" sz="1600" b="1" i="0" u="none" strike="noStrike" baseline="30000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π</a:t>
                </a:r>
                <a:r>
                  <a:rPr lang="en-US" sz="1600" b="1" i="0" u="none" strike="noStrike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。</a:t>
                </a:r>
                <a:endParaRPr lang="en-US" sz="1600" b="1" i="0" u="none" strike="noStrike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10400" y="3400"/>
                <a:ext cx="6400" cy="2400"/>
              </a:xfrm>
              <a:prstGeom prst="roundRect">
                <a:avLst>
                  <a:gd name="adj" fmla="val 6666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E5E7EB">
                    <a:alpha val="100000"/>
                  </a:srgbClr>
                </a:solidFill>
                <a:prstDash val="solid"/>
                <a:round/>
              </a:ln>
              <a:effectLst>
                <a:outerShdw blurRad="127000" dist="63500" dir="5400000" algn="tl" rotWithShape="0">
                  <a:srgbClr val="000000">
                    <a:alpha val="5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11600" y="3800"/>
                <a:ext cx="4800" cy="48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800" b="1" i="0" u="none" strike="noStrike">
                    <a:solidFill>
                      <a:srgbClr val="333333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策略改进</a:t>
                </a:r>
                <a:endParaRPr lang="en-US" sz="1800" b="1" i="0" u="none" strike="noStrike">
                  <a:solidFill>
                    <a:srgbClr val="33333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13" name="AutoShap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00" y="4400"/>
                <a:ext cx="4800" cy="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indent="0" algn="l">
                  <a:lnSpc>
                    <a:spcPct val="117000"/>
                  </a:lnSpc>
                  <a:defRPr/>
                </a:pPr>
                <a:r>
                  <a:rPr lang="en-US" sz="1600" b="1" i="0" u="none" strike="noStrike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基于 V</a:t>
                </a:r>
                <a:r>
                  <a:rPr lang="en-US" sz="1600" b="1" i="0" u="none" strike="noStrike" baseline="30000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π</a:t>
                </a:r>
                <a:r>
                  <a:rPr lang="en-US" sz="1600" b="1" i="0" u="none" strike="noStrike">
                    <a:solidFill>
                      <a:srgbClr val="6B728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，生成更优策略 π'。</a:t>
                </a:r>
                <a:endParaRPr lang="en-US" sz="1600" b="1" i="0" u="none" strike="noStrike">
                  <a:solidFill>
                    <a:srgbClr val="6B728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grpSp>
            <p:nvGrpSpPr>
              <p:cNvPr id="22" name="组合 21"/>
              <p:cNvGrpSpPr/>
              <p:nvPr>
                <p:custDataLst>
                  <p:tags r:id="rId9"/>
                </p:custDataLst>
              </p:nvPr>
            </p:nvGrpSpPr>
            <p:grpSpPr>
              <a:xfrm>
                <a:off x="8429" y="3946"/>
                <a:ext cx="1360" cy="1271"/>
                <a:chOff x="8429" y="3946"/>
                <a:chExt cx="1360" cy="1271"/>
              </a:xfrm>
            </p:grpSpPr>
            <p:sp>
              <p:nvSpPr>
                <p:cNvPr id="18" name="右箭头 1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429" y="3946"/>
                  <a:ext cx="1361" cy="454"/>
                </a:xfrm>
                <a:prstGeom prst="rightArrow">
                  <a:avLst/>
                </a:prstGeom>
                <a:solidFill>
                  <a:srgbClr val="165DFF"/>
                </a:solidFill>
                <a:ln>
                  <a:solidFill>
                    <a:srgbClr val="165DFF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左箭头 19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8429" y="4763"/>
                  <a:ext cx="1361" cy="454"/>
                </a:xfrm>
                <a:prstGeom prst="leftArrow">
                  <a:avLst/>
                </a:prstGeom>
                <a:solidFill>
                  <a:srgbClr val="165DFF"/>
                </a:solidFill>
                <a:ln>
                  <a:solidFill>
                    <a:srgbClr val="165DFF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25" name="文本框 24"/>
          <p:cNvSpPr txBox="1"/>
          <p:nvPr/>
        </p:nvSpPr>
        <p:spPr>
          <a:xfrm>
            <a:off x="1402715" y="25349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1</a:t>
            </a:r>
            <a:endParaRPr lang="en-US" altLang="zh-CN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28815" y="25349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2</a:t>
            </a:r>
            <a:endParaRPr lang="en-US" altLang="zh-CN" sz="2000" b="1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策略迭代：策略评估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6657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思想</a:t>
            </a:r>
            <a:r>
              <a:rPr lang="en-US" sz="2000" b="1" i="0" u="none" strike="noStrike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：固定当前策略π，通过贝尔曼期望方程迭代求解V</a:t>
            </a:r>
            <a:r>
              <a:rPr lang="en-US" sz="2000" b="1" i="0" u="none" strike="noStrike" baseline="30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sz="2000" b="1" i="0" u="none" strike="noStrike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b="1" i="0" u="none" strike="noStrike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8956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1. 初始化：                      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，对所有状态</a:t>
            </a:r>
            <a:r>
              <a:rPr lang="en-US" altLang="zh-CN" sz="2000" b="1" i="1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endParaRPr lang="en-US" altLang="zh-CN" sz="2000" b="1" i="1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7465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6896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3. 收敛判定：</a:t>
            </a:r>
            <a:endParaRPr lang="en-US" sz="1800" b="0" i="0" u="none" strike="noStrike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8690" y="2853690"/>
            <a:ext cx="1299375" cy="396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945" y="3677285"/>
            <a:ext cx="5688806" cy="900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016000" y="39751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2. 迭代更新：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45" y="5689600"/>
            <a:ext cx="2959200" cy="468000"/>
          </a:xfrm>
          <a:prstGeom prst="rect">
            <a:avLst/>
          </a:prstGeom>
        </p:spPr>
      </p:pic>
      <p:pic>
        <p:nvPicPr>
          <p:cNvPr id="21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54550"/>
            <a:ext cx="304800" cy="3048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320800" y="4578350"/>
            <a:ext cx="840486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有限 MDP 中，策略评估的迭代过程是压缩映射，必然收敛到唯一的</a:t>
            </a:r>
            <a:r>
              <a:rPr lang="en-US" sz="2000" b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V</a:t>
            </a:r>
            <a:r>
              <a:rPr lang="en-US" sz="2000" b="1" baseline="3000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altLang="zh-CN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en-US" altLang="zh-CN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策略迭代：策略改进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</a:rPr>
              <a:t>思想</a:t>
            </a: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基于收敛的状态价值函数</a:t>
            </a:r>
            <a:r>
              <a:rPr lang="en-US" sz="2000" b="1" i="0" u="none" strike="noStrike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V</a:t>
            </a:r>
            <a:r>
              <a:rPr lang="en-US" altLang="zh-CN" sz="2000" b="1" baseline="30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altLang="zh-CN" sz="2000" b="1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000" b="1" i="0" u="none" strike="noStrike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000" b="1" i="0" u="none" strike="noStrike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通过贪婪策略生成一个更优的新策略</a:t>
            </a:r>
            <a:r>
              <a:rPr lang="en-US" sz="2000" b="1" i="0" u="none" strike="noStrike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π'。</a:t>
            </a:r>
            <a:endParaRPr lang="en-US" sz="2000" b="1" i="0" u="none" strike="noStrike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步骤</a:t>
            </a:r>
            <a:endParaRPr lang="en-US" sz="2000" b="1" i="0" u="none" strike="noStrike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762000" y="30988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965200" y="33147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1. 计算Q值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6223000" y="30988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4870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181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19200" y="51943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策略改进定理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19200" y="55880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新策略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π' </a:t>
            </a:r>
            <a:r>
              <a:rPr lang="en-US" sz="18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不劣于原策略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π，即 V</a:t>
            </a:r>
            <a:r>
              <a:rPr lang="en-US" sz="1800" b="1" baseline="30000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π'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(s) ≥ V</a:t>
            </a:r>
            <a:r>
              <a:rPr lang="en-US" sz="1800" b="1" baseline="30000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π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(s) </a:t>
            </a:r>
            <a:r>
              <a:rPr lang="en-US" sz="18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对所有状态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s </a:t>
            </a:r>
            <a:r>
              <a:rPr lang="en-US" sz="18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成立</a:t>
            </a:r>
            <a:r>
              <a:rPr lang="en-US" sz="1800" b="1" i="0" u="none" strike="noStrike" dirty="0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1" i="0" u="none" strike="noStrike" dirty="0">
              <a:solidFill>
                <a:srgbClr val="165DFF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00" y="3724910"/>
            <a:ext cx="3861435" cy="48831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00" y="3522980"/>
            <a:ext cx="5185410" cy="78994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426200" y="33147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2. 贪婪选择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策略迭代：伪代码实现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245870"/>
            <a:ext cx="10668000" cy="4686935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540" y="1790700"/>
            <a:ext cx="5511800" cy="29298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340" y="1521759"/>
            <a:ext cx="4255770" cy="39414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FrozenLake-v1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环境结果</a:t>
            </a:r>
            <a:endParaRPr lang="zh-CN" altLang="en-US" sz="3200" b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6000" y="1364989"/>
            <a:ext cx="10275735" cy="6300000"/>
            <a:chOff x="1016000" y="558165"/>
            <a:chExt cx="10275735" cy="6300000"/>
          </a:xfrm>
        </p:grpSpPr>
        <p:pic>
          <p:nvPicPr>
            <p:cNvPr id="10" name="图片 9" descr="policy_iteration_animatio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91735" y="558165"/>
              <a:ext cx="6300000" cy="6300000"/>
            </a:xfrm>
            <a:prstGeom prst="rect">
              <a:avLst/>
            </a:prstGeom>
          </p:spPr>
        </p:pic>
        <p:pic>
          <p:nvPicPr>
            <p:cNvPr id="11" name="图片 10" descr="policy_iteration_policy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000" y="1397000"/>
              <a:ext cx="4318229" cy="43200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62000" y="1269365"/>
                <a:ext cx="5065059" cy="602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P(s‘|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s,a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)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R(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s,a,s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’)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已知</a:t>
                </a:r>
                <a:endPara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γ = 0.99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 π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0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初始化都向左、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𝐕</m:t>
                        </m:r>
                      </m:e>
                      <m:sub>
                        <m:sSub>
                          <m:sSubPr>
                            <m:ctrlPr>
                              <a:rPr lang="en-US" altLang="zh-CN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Noto Sans SC" panose="020B0200000000000000" charset="-122"/>
                              </a:rPr>
                            </m:ctrlPr>
                          </m:sSubPr>
                          <m:e>
                            <m:r>
                              <a:rPr lang="zh-CN" alt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Noto Sans SC" panose="020B0200000000000000" charset="-122"/>
                              </a:rPr>
                              <m:t>𝛑</m:t>
                            </m:r>
                          </m:e>
                          <m:sub>
                            <m:r>
                              <a:rPr lang="en-US" altLang="zh-CN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sym typeface="Noto Sans SC" panose="020B0200000000000000" charset="-122"/>
                              </a:rPr>
                              <m:t>𝐤</m:t>
                            </m:r>
                          </m:sub>
                        </m:sSub>
                      </m:sub>
                      <m:sup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(</m:t>
                        </m:r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𝟎</m:t>
                        </m:r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初始化为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0</a:t>
                </a:r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269365"/>
                <a:ext cx="5065059" cy="602601"/>
              </a:xfrm>
              <a:prstGeom prst="rect">
                <a:avLst/>
              </a:prstGeom>
              <a:blipFill rotWithShape="1">
                <a:blip r:embed="rId3"/>
                <a:stretch>
                  <a:fillRect r="6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2413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57290">
            <a:off x="5715053" y="291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2286000" y="317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值迭代 (Value Iteration)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值迭代：核心思想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676400" y="2006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融合策略评估与改进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76400" y="24384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将两步合并为一步，直接迭代逼近最优价值函数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V*。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6350000" y="1651000"/>
            <a:ext cx="508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54800" y="1955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7264400" y="2006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无需显式维护策略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264400" y="24384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每次迭代都进行一次隐含的、贪婪的策略改进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10668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66800" y="3937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迭代公式 (源于贝尔曼最优方程)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525" y="4419600"/>
            <a:ext cx="6292850" cy="102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值迭代：伪代码实现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4"/>
          <p:cNvSpPr/>
          <p:nvPr/>
        </p:nvSpPr>
        <p:spPr>
          <a:xfrm>
            <a:off x="762000" y="1245870"/>
            <a:ext cx="10668000" cy="4686935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12" name="组合 11"/>
          <p:cNvGrpSpPr/>
          <p:nvPr/>
        </p:nvGrpSpPr>
        <p:grpSpPr>
          <a:xfrm>
            <a:off x="963295" y="1854200"/>
            <a:ext cx="9916160" cy="3082925"/>
            <a:chOff x="1517" y="2240"/>
            <a:chExt cx="15616" cy="485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17" y="2240"/>
              <a:ext cx="7562" cy="444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9" y="2625"/>
              <a:ext cx="7755" cy="44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FrozenLake-v1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环境结果</a:t>
            </a:r>
            <a:endParaRPr lang="zh-CN" altLang="en-US" sz="3200" b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16000" y="1370833"/>
            <a:ext cx="10184765" cy="6299835"/>
            <a:chOff x="1473200" y="705485"/>
            <a:chExt cx="10184765" cy="6299835"/>
          </a:xfrm>
        </p:grpSpPr>
        <p:pic>
          <p:nvPicPr>
            <p:cNvPr id="4" name="图片 3" descr="value_iteration_animatio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58130" y="705485"/>
              <a:ext cx="6299835" cy="6299835"/>
            </a:xfrm>
            <a:prstGeom prst="rect">
              <a:avLst/>
            </a:prstGeom>
          </p:spPr>
        </p:pic>
        <p:pic>
          <p:nvPicPr>
            <p:cNvPr id="8" name="图片 7" descr="value_iteration_policy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3200" y="1594485"/>
              <a:ext cx="4318000" cy="431990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62000" y="1269365"/>
                <a:ext cx="5065059" cy="551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P(s‘|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s,a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)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R(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s,a,s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’)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已知</a:t>
                </a:r>
                <a:endParaRPr lang="en-US" altLang="zh-CN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γ = 0.99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</m:ctrlPr>
                      </m:sSubSup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𝐕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Noto Sans SC" panose="020B0200000000000000" charset="-122"/>
                          </a:rPr>
                          <m:t>𝟎</m:t>
                        </m:r>
                      </m:sub>
                      <m:sup/>
                    </m:sSubSup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初始化为</a:t>
                </a:r>
                <a:r>
                  <a:rPr lang="en-US" altLang="zh-CN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0</a:t>
                </a:r>
                <a:endParaRPr lang="zh-CN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269365"/>
                <a:ext cx="5065059" cy="551689"/>
              </a:xfrm>
              <a:prstGeom prst="rect">
                <a:avLst/>
              </a:prstGeom>
              <a:blipFill rotWithShape="1">
                <a:blip r:embed="rId3"/>
                <a:stretch>
                  <a:fillRect r="6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2794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蒙特卡洛方法</a:t>
            </a:r>
            <a:r>
              <a:rPr lang="en-US" sz="3200" b="1" i="0" u="none" strike="noStrike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(Monte Carlo)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17188">
            <a:off x="1016016" y="36004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39116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>
                    <a:alpha val="85098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从有模型到无模型的过渡，探索基于采样的强化学习方法</a:t>
            </a:r>
            <a:r>
              <a:rPr lang="en-US" sz="1400" b="1" i="0" u="none" strike="noStrike" dirty="0">
                <a:solidFill>
                  <a:srgbClr val="FFFFFF">
                    <a:alpha val="85098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蒙特卡洛方法：核心思想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256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574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27200" y="19558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无模型 (Model-Free)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727200" y="23622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无需知道状态转移概率P和奖励函数R，直接从与环境的交互中学习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1496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581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27200" y="34798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基于采样 (Sample-Based)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727200" y="38862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通过生成大量轨迹，利用</a:t>
            </a:r>
            <a:r>
              <a:rPr lang="en-US" sz="1600" b="1" i="0" u="none" strike="noStrike" dirty="0" err="1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平均回报</a:t>
            </a: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来估计价值函数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6736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1054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27200" y="50038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理论基础：大数定律</a:t>
            </a:r>
            <a:endParaRPr lang="en-US" sz="20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727200" y="54102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当采样次数足够多时，样本均值收敛于期望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蒙特卡洛方法：策略评估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161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161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核心思想：</a:t>
            </a:r>
            <a:r>
              <a:rPr lang="en-US" sz="1800" b="1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通过采样轨迹的平均回报来估计状态价值函数 V(s)。</a:t>
            </a:r>
            <a:endParaRPr lang="en-US" sz="1800" b="1" i="0" u="none" strike="noStrike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92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首次访问MC (First-Visit)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对每个轨迹，仅当状态 s 首次出现时，用其回报 Gt 更新 V(s)。</a:t>
            </a:r>
            <a:endParaRPr lang="en-US" sz="1600" b="1" i="0" u="none" strike="noStrike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2667000"/>
            <a:ext cx="5080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29210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每次访问MC (Every-Visit)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604000" y="3429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对每个轨迹，状态 s 每次出现时，都用其回报 Gt 更新 V(s)。</a:t>
            </a:r>
            <a:endParaRPr lang="en-US" sz="1600" b="1" i="0" u="none" strike="noStrike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435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4356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结论：样本量足够大时，两种方法均收敛到真实值 V(s)。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4191000"/>
            <a:ext cx="3133725" cy="533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0" y="4191000"/>
            <a:ext cx="313372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蒙特卡洛控制：探索与利用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524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77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探索 (Exploration)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00" y="2159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尝试新的动作，以发现潜在的更高价值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77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利用 (Exploitation)</a:t>
            </a:r>
            <a:endParaRPr lang="en-US" sz="1800" b="1" i="0" u="none" strike="noStrike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0" y="2159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选择当前已知的价值最高的动作。</a:t>
            </a:r>
            <a:endParaRPr lang="en-US" sz="1600" b="1" i="0" u="none" strike="noStrike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238500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ε-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贪婪策略</a:t>
            </a:r>
            <a:r>
              <a:rPr lang="en-US" sz="18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(ε-Greedy Policy)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7465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143000" y="37465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以概率</a:t>
            </a:r>
            <a:r>
              <a:rPr lang="en-US" sz="1600" b="1" i="0" u="none" strike="noStrike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1-ε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选择当前最优动作（利用）。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1910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143000" y="4191000"/>
            <a:ext cx="990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以概率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ε</a:t>
            </a:r>
            <a:r>
              <a:rPr lang="en-US" sz="1600" b="1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随机选择一个动作（探索</a:t>
            </a:r>
            <a:r>
              <a:rPr lang="en-US" sz="1600" b="1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）。</a:t>
            </a:r>
            <a:endParaRPr lang="en-US" sz="1600" b="1" i="0" u="none" strike="noStrike" dirty="0">
              <a:solidFill>
                <a:srgbClr val="6B7280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7625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5260" y="4841240"/>
            <a:ext cx="4222115" cy="9848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蒙特卡洛控制：伪代码实现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177800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762000" y="1245870"/>
            <a:ext cx="10668000" cy="4686935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692275"/>
            <a:ext cx="2809875" cy="24669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692275"/>
            <a:ext cx="6455410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FrozenLake-v1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环境结果</a:t>
            </a:r>
            <a:endParaRPr lang="zh-CN" altLang="en-US" sz="3200" b="1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" name="Connector 3"/>
          <p:cNvCxnSpPr/>
          <p:nvPr/>
        </p:nvCxnSpPr>
        <p:spPr>
          <a:xfrm rot="21595908">
            <a:off x="1765300" y="114173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2019300" y="1719580"/>
            <a:ext cx="1016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33333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660" y="2190624"/>
            <a:ext cx="11282680" cy="3407847"/>
            <a:chOff x="454660" y="3185797"/>
            <a:chExt cx="11282680" cy="3407847"/>
          </a:xfrm>
        </p:grpSpPr>
        <p:sp>
          <p:nvSpPr>
            <p:cNvPr id="8" name="文本框 7"/>
            <p:cNvSpPr txBox="1"/>
            <p:nvPr>
              <p:custDataLst>
                <p:tags r:id="rId1"/>
              </p:custDataLst>
            </p:nvPr>
          </p:nvSpPr>
          <p:spPr>
            <a:xfrm>
              <a:off x="1146810" y="6285867"/>
              <a:ext cx="1317625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Arial" panose="020B0604020202020204" pitchFamily="34" charset="0"/>
                  <a:ea typeface="微软雅黑" panose="020B0503020204020204" pitchFamily="34" charset="-122"/>
                </a:rPr>
                <a:t>episode 100</a:t>
              </a:r>
              <a:endParaRPr lang="en-US" altLang="zh-CN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6790690" y="6285867"/>
              <a:ext cx="147320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Arial" panose="020B0604020202020204" pitchFamily="34" charset="0"/>
                  <a:ea typeface="微软雅黑" panose="020B0503020204020204" pitchFamily="34" charset="-122"/>
                </a:rPr>
                <a:t>episode 5000</a:t>
              </a:r>
              <a:endParaRPr lang="en-US" altLang="zh-CN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3"/>
              </p:custDataLst>
            </p:nvPr>
          </p:nvSpPr>
          <p:spPr>
            <a:xfrm>
              <a:off x="9660890" y="6285867"/>
              <a:ext cx="14535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Arial" panose="020B0604020202020204" pitchFamily="34" charset="0"/>
                  <a:ea typeface="微软雅黑" panose="020B0503020204020204" pitchFamily="34" charset="-122"/>
                </a:rPr>
                <a:t>episode 10000</a:t>
              </a:r>
              <a:endParaRPr lang="en-US" altLang="zh-CN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3906520" y="6285867"/>
              <a:ext cx="13442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Arial" panose="020B0604020202020204" pitchFamily="34" charset="0"/>
                  <a:ea typeface="微软雅黑" panose="020B0503020204020204" pitchFamily="34" charset="-122"/>
                </a:rPr>
                <a:t>episode 1000</a:t>
              </a:r>
              <a:endParaRPr lang="en-US" altLang="zh-CN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54660" y="3185797"/>
              <a:ext cx="11282680" cy="2700020"/>
              <a:chOff x="1200" y="2857"/>
              <a:chExt cx="17768" cy="4252"/>
            </a:xfrm>
          </p:grpSpPr>
          <p:pic>
            <p:nvPicPr>
              <p:cNvPr id="6" name="图片 5" descr="mc_iteration_policy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1200" y="2857"/>
                <a:ext cx="4254" cy="4252"/>
              </a:xfrm>
              <a:prstGeom prst="rect">
                <a:avLst/>
              </a:prstGeom>
            </p:spPr>
          </p:pic>
          <p:pic>
            <p:nvPicPr>
              <p:cNvPr id="11" name="图片 10" descr="mc_iteration_policy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5706" y="2857"/>
                <a:ext cx="4253" cy="4252"/>
              </a:xfrm>
              <a:prstGeom prst="rect">
                <a:avLst/>
              </a:prstGeom>
            </p:spPr>
          </p:pic>
          <p:pic>
            <p:nvPicPr>
              <p:cNvPr id="16" name="图片 15" descr="mc_iteration_policy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14716" y="2857"/>
                <a:ext cx="4253" cy="4252"/>
              </a:xfrm>
              <a:prstGeom prst="rect">
                <a:avLst/>
              </a:prstGeom>
            </p:spPr>
          </p:pic>
          <p:pic>
            <p:nvPicPr>
              <p:cNvPr id="19" name="图片 18" descr="mc_iteration_policy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10211" y="2857"/>
                <a:ext cx="4253" cy="4252"/>
              </a:xfrm>
              <a:prstGeom prst="rect">
                <a:avLst/>
              </a:prstGeom>
            </p:spPr>
          </p:pic>
        </p:grpSp>
      </p:grpSp>
      <p:sp>
        <p:nvSpPr>
          <p:cNvPr id="7" name="文本框 13"/>
          <p:cNvSpPr txBox="1"/>
          <p:nvPr/>
        </p:nvSpPr>
        <p:spPr>
          <a:xfrm>
            <a:off x="454660" y="1259529"/>
            <a:ext cx="8908415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P(s‘|</a:t>
            </a: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R(</a:t>
            </a:r>
            <a:r>
              <a:rPr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s,a,s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’)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未知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γ = 0.99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π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为</a:t>
            </a:r>
            <a:r>
              <a:rPr lang="en-US" altLang="zh-CN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ε-</a:t>
            </a:r>
            <a:r>
              <a:rPr lang="en-US" altLang="zh-CN" b="1" dirty="0" err="1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贪婪策略</a:t>
            </a:r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endParaRPr lang="en-US" altLang="zh-CN" b="1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ε = 0.5</a:t>
            </a:r>
            <a:endParaRPr lang="en-US" altLang="zh-CN" sz="1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aseline="-25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86000" y="2286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0" y="2794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30988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方法对比</a:t>
            </a:r>
            <a:endParaRPr lang="en-US" sz="36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三种方法核心对比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DF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513840"/>
          <a:ext cx="10414000" cy="481076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032000"/>
                <a:gridCol w="2794000"/>
                <a:gridCol w="2794000"/>
                <a:gridCol w="2794000"/>
              </a:tblGrid>
              <a:tr h="6108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特性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策略迭代 (PI)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值迭代 (VI)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D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蒙特卡洛 (MC)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5DFF"/>
                    </a:solidFill>
                  </a:tcPr>
                </a:tc>
              </a:tr>
              <a:tr h="699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是否需要模型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是否需要Episode结束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否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9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更新目标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 → π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 → π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 → π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9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收敛直觉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策略空间爬山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价值空间收缩映射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大数定律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040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典型场景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模型已知、状态空间小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模型已知、状态空间较大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模型未知、复杂环境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977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方差/偏差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无方差，有偏差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无方差，有偏差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无偏差，有方差</a:t>
                      </a:r>
                      <a:endParaRPr lang="en-US" sz="11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5D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556000" y="241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PART 06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556000" y="3302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总结与拓展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65D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1727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397000" y="17399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有模型算法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965200" y="22098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策略/值迭代，理论扎实，适用于小规模问题。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45000" y="152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8200" y="17272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080000" y="17399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无模型算法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648200" y="22098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蒙特卡洛方法，灵活性高，处理复杂高维问题。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128000" y="152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31200" y="17272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8763000" y="17399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最终目标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331200" y="22098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三种方法均致力于收敛到最优策略</a:t>
            </a:r>
            <a:r>
              <a:rPr lang="en-US" sz="1400" b="0" i="0" u="none" strike="noStrike" dirty="0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367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3937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拓展方向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000" y="4445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143000" y="4445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时序差分 (TD) 方法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000" y="4953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953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深度强化学习 (DRL)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2" name="Connector 22"/>
          <p:cNvCxnSpPr/>
          <p:nvPr/>
        </p:nvCxnSpPr>
        <p:spPr>
          <a:xfrm rot="5368748">
            <a:off x="5397500" y="4629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3937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604000" y="4445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欢迎提问与交流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Thank You!</a:t>
            </a:r>
            <a:endParaRPr lang="en-US" sz="11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2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3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4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5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6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7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8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9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10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11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12.xml><?xml version="1.0" encoding="utf-8"?>
<p:tagLst xmlns:p="http://schemas.openxmlformats.org/presentationml/2006/main">
  <p:tag name="KSO_WM_DIAGRAM_VIRTUALLY_FRAME" val="{&quot;height&quot;:368,&quot;left&quot;:60,&quot;top&quot;:130,&quot;width&quot;:66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24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26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27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28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29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0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1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2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3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4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5.xml><?xml version="1.0" encoding="utf-8"?>
<p:tagLst xmlns:p="http://schemas.openxmlformats.org/presentationml/2006/main">
  <p:tag name="KSO_WM_DIAGRAM_VIRTUALLY_FRAME" val="{&quot;height&quot;:332.3,&quot;left&quot;:59.75,&quot;top&quot;:107.7,&quot;width&quot;:853.7182373046875}"/>
</p:tagLst>
</file>

<file path=ppt/tags/tag36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37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38.xml><?xml version="1.0" encoding="utf-8"?>
<p:tagLst xmlns:p="http://schemas.openxmlformats.org/presentationml/2006/main">
  <p:tag name="KSO_WM_DIAGRAM_VIRTUALLY_FRAME" val="{&quot;height&quot;:135,&quot;left&quot;:80,&quot;top&quot;:170,&quot;width&quot;:760}"/>
</p:tagLst>
</file>

<file path=ppt/tags/tag39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0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1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2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3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4.xml><?xml version="1.0" encoding="utf-8"?>
<p:tagLst xmlns:p="http://schemas.openxmlformats.org/presentationml/2006/main">
  <p:tag name="KSO_WM_DIAGRAM_VIRTUALLY_FRAME" val="{&quot;height&quot;:120,&quot;left&quot;:80,&quot;top&quot;:170,&quot;width&quot;:760}"/>
</p:tagLst>
</file>

<file path=ppt/tags/tag45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6.xml><?xml version="1.0" encoding="utf-8"?>
<p:tagLst xmlns:p="http://schemas.openxmlformats.org/presentationml/2006/main">
  <p:tag name="KSO_WM_DIAGRAM_VIRTUALLY_FRAME" val="{&quot;height&quot;:120,&quot;left&quot;:80,&quot;top&quot;:182,&quot;width&quot;:760}"/>
</p:tagLst>
</file>

<file path=ppt/tags/tag47.xml><?xml version="1.0" encoding="utf-8"?>
<p:tagLst xmlns:p="http://schemas.openxmlformats.org/presentationml/2006/main">
  <p:tag name="KSO_WM_DIAGRAM_VIRTUALLY_FRAME" val="{&quot;height&quot;:120,&quot;left&quot;:60,&quot;top&quot;:244,&quot;width&quot;:840}"/>
</p:tagLst>
</file>

<file path=ppt/tags/tag48.xml><?xml version="1.0" encoding="utf-8"?>
<p:tagLst xmlns:p="http://schemas.openxmlformats.org/presentationml/2006/main">
  <p:tag name="KSO_WM_DIAGRAM_VIRTUALLY_FRAME" val="{&quot;height&quot;:120,&quot;left&quot;:60,&quot;top&quot;:244,&quot;width&quot;:840}"/>
</p:tagLst>
</file>

<file path=ppt/tags/tag49.xml><?xml version="1.0" encoding="utf-8"?>
<p:tagLst xmlns:p="http://schemas.openxmlformats.org/presentationml/2006/main">
  <p:tag name="KSO_WM_DIAGRAM_VIRTUALLY_FRAME" val="{&quot;height&quot;:120,&quot;left&quot;:60,&quot;top&quot;:244,&quot;width&quot;:840}"/>
</p:tagLst>
</file>

<file path=ppt/tags/tag50.xml><?xml version="1.0" encoding="utf-8"?>
<p:tagLst xmlns:p="http://schemas.openxmlformats.org/presentationml/2006/main">
  <p:tag name="KSO_WM_DIAGRAM_VIRTUALLY_FRAME" val="{&quot;height&quot;:120,&quot;left&quot;:60,&quot;top&quot;:244,&quot;width&quot;:840}"/>
</p:tagLst>
</file>

<file path=ppt/tags/tag51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2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3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4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5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6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7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8.xml><?xml version="1.0" encoding="utf-8"?>
<p:tagLst xmlns:p="http://schemas.openxmlformats.org/presentationml/2006/main">
  <p:tag name="KSO_WM_DIAGRAM_VIRTUALLY_FRAME" val="{&quot;height&quot;:130,&quot;left&quot;:60,&quot;top&quot;:130,&quot;width&quot;:840}"/>
</p:tagLst>
</file>

<file path=ppt/tags/tag59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0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1.xml><?xml version="1.0" encoding="utf-8"?>
<p:tagLst xmlns:p="http://schemas.openxmlformats.org/presentationml/2006/main">
  <p:tag name="KSO_WM_DIAGRAM_VIRTUALLY_FRAME" val="{&quot;height&quot;:403,&quot;left&quot;:60,&quot;top&quot;:116.25,&quot;width&quot;:813.35}"/>
</p:tagLst>
</file>

<file path=ppt/tags/tag62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3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4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5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6.xml><?xml version="1.0" encoding="utf-8"?>
<p:tagLst xmlns:p="http://schemas.openxmlformats.org/presentationml/2006/main">
  <p:tag name="KSO_WM_DIAGRAM_VIRTUALLY_FRAME" val="{&quot;height&quot;:414.2,&quot;left&quot;:60,&quot;top&quot;:105.05,&quot;width&quot;:858.9}"/>
</p:tagLst>
</file>

<file path=ppt/tags/tag67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68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69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0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1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2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3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4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5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6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7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ags/tag78.xml><?xml version="1.0" encoding="utf-8"?>
<p:tagLst xmlns:p="http://schemas.openxmlformats.org/presentationml/2006/main">
  <p:tag name="KSO_WM_DIAGRAM_VIRTUALLY_FRAME" val="{&quot;height&quot;:15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2379</Words>
  <Application>WPS 演示</Application>
  <PresentationFormat>宽屏</PresentationFormat>
  <Paragraphs>343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Arial</vt:lpstr>
      <vt:lpstr>微软雅黑</vt:lpstr>
      <vt:lpstr>Noto Sans SC</vt:lpstr>
      <vt:lpstr>Arial Unicode MS</vt:lpstr>
      <vt:lpstr>Roboto Mono</vt:lpstr>
      <vt:lpstr>Cambria Math</vt:lpstr>
      <vt:lpstr>InSightSymbols</vt:lpstr>
      <vt:lpstr>Office 主题​​</vt:lpstr>
      <vt:lpstr>默认主题</vt:lpstr>
      <vt:lpstr>2_默认主题</vt:lpstr>
      <vt:lpstr>1_默认主题</vt:lpstr>
      <vt:lpstr>3_默认主题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苏嘉俊</cp:lastModifiedBy>
  <cp:revision>27</cp:revision>
  <dcterms:created xsi:type="dcterms:W3CDTF">2026-01-06T12:33:00Z</dcterms:created>
  <dcterms:modified xsi:type="dcterms:W3CDTF">2026-05-24T13:59:23Z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EFE1E2CAC35E407FAEBA0C3A42343F50_13</vt:lpwstr>
  </property>
</Properties>
</file>