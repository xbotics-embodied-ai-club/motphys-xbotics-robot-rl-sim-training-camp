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0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17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今天分享的主题是 MotrixLab 的分层架构。MotrixLab 是面向机器人强化学习任务的工程框架，项目变大后容易出现脚本、配置、环境类、仿真参数混在一起的问题。核心解法是分层：每一层各司其职，排查和改代码时都能明确定位。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MotrixLab 项目一大，入口脚本、配置、环境类、仿真参数容易搅在一起。分层的价值在于让每层各司其职，排查问题时知道往哪里找，改代码时也知道应该动哪一层。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四层从上到下是用户接口层、训练算法层、环境实现层、物理仿真层。用户接口负责启动，训练算法负责学习，环境定义任务，物理仿真推进状态。读代码第一步就是判断文件属于哪一层。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用户接口层常见形式是 train.py、play.py、view.py。它负责读取参数、确定环境名、选择后端、传递 num_envs、seed、render、policy 等参数，最后创建 Trainer 或环境并启动流程。边界是：不要在这一层堆奖励、观测和任务逻辑。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训练算法层负责创建网络、采集 rollout、计算 advantage 和 loss、执行优化、保存 checkpoint、记录训练日志。算法层需要环境提供标准 RL 信号：observation、action、reward、done 或 terminated/truncated，以及 info。PPO 不理解机器人目标，只优化 reward。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环境实现层通常包括 EnvCfg、Env、Reward、reset、observation 构造、action 处理和 termination 判断。它回答五个核心问题：智能体看到了什么，能输出什么，动作如何作用到机器人，一步之后状态如何变化，当前行为得多少 reward，episode 什么时候结束。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物理仿真层包括模型加载、关节执行器传感器配置、接触碰撞摩擦、质量惯性几何体、sim_dt 和 ctrl_dt，以及动力学积分。如果机器人一开始就抖动、穿模、飞走或接触不稳定，优先看物理仿真层。不能把所有仿真异常都归因于 PPO。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完整调用链是：用户命令到入口脚本解析参数，根据 env_name 找注册项，加载 EnvCfg 和 RLCfg，创建环境，创建 Trainer 或 Agent，策略输出 action，Env 接收 action，仿真层推进状态，Env 构造 observation、reward、done，算法更新策略，最后保存日志和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分层排查表用于快速定位问题：入口命令报错看用户接口层，环境名找不到看注册系统，环境创建失败看 EnvCfg、模型路径和后端，reward 异常看 Reward、状态读取和 done，动作异常看动作处理和物理控制接口，训练不收敛要先看观测、动作、奖励，再看 PPO 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分层架构是 MotrixLab 最重要的设计思想。理解四层关系，就有了读懂整个项目的地图。读代码先分层，改代码也按层改。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4" name="Image 0" descr="/mnt/data/xbotics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5" name="Image 1" descr="/mnt/data/motphys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1874520"/>
            <a:ext cx="6355080" cy="53035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基础框架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685800" y="2468880"/>
            <a:ext cx="4206240" cy="6400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731520" y="3310128"/>
            <a:ext cx="6355080" cy="6583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B7280"/>
                </a:solidFill>
                <a:ea typeface="阿里巴巴普惠体 M" panose="00020600040101010101" pitchFamily="18" charset="-122"/>
                <a:cs typeface="阿里巴巴普惠体 M" panose="00020600040101010101" pitchFamily="18" charset="-122"/>
              </a:rPr>
              <a:t>把训练入口、算法、任务逻辑、物理仿真拆开，形成可读、可查、可维护的机器人强化学习工程结构。</a:t>
            </a:r>
            <a:endParaRPr lang="en-US" sz="1700" dirty="0">
              <a:ea typeface="阿里巴巴普惠体 M" panose="00020600040101010101" pitchFamily="18" charset="-122"/>
              <a:cs typeface="阿里巴巴普惠体 M" panose="00020600040101010101" pitchFamily="18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955280" y="1691640"/>
            <a:ext cx="3246120" cy="640080"/>
          </a:xfrm>
          <a:prstGeom prst="rect">
            <a:avLst/>
          </a:prstGeom>
          <a:solidFill>
            <a:srgbClr val="FDEDED"/>
          </a:solidFill>
          <a:ln>
            <a:solidFill>
              <a:srgbClr val="F4B7B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用户接口层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1329416" y="1856232"/>
            <a:ext cx="438912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955280" y="2496312"/>
            <a:ext cx="3246120" cy="640080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训练算法层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1329416" y="2660904"/>
            <a:ext cx="438912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955280" y="3300984"/>
            <a:ext cx="3246120" cy="640080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环境实现层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1329416" y="3465576"/>
            <a:ext cx="438912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955280" y="4105656"/>
            <a:ext cx="3246120" cy="640080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物理仿真层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1329416" y="4270248"/>
            <a:ext cx="438912" cy="2286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568388" y="4919793"/>
            <a:ext cx="5024743" cy="844453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6B7280"/>
                </a:solidFill>
                <a:ea typeface="Microsoft YaHei" pitchFamily="34" charset="-122"/>
                <a:cs typeface="Microsoft YaHei" pitchFamily="34" charset="-120"/>
              </a:rPr>
              <a:t>接口启动，算法学习，环境定任务，仿真推物理</a:t>
            </a:r>
            <a:endParaRPr lang="en-US" b="1" dirty="0"/>
          </a:p>
        </p:txBody>
      </p:sp>
      <p:sp>
        <p:nvSpPr>
          <p:cNvPr id="19" name="Text 15"/>
          <p:cNvSpPr/>
          <p:nvPr/>
        </p:nvSpPr>
        <p:spPr>
          <a:xfrm>
            <a:off x="11201400" y="6382512"/>
            <a:ext cx="347472" cy="146304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579570" y="292338"/>
            <a:ext cx="6217920" cy="507494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为什么要分层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06632" y="1044371"/>
            <a:ext cx="10434748" cy="44805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项目变大后，混在一起就是主要风险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03314" y="1571727"/>
            <a:ext cx="7022432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分层的目的不是“形式漂亮”，而是降低查错和改动成本。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59198" y="2476981"/>
            <a:ext cx="1828800" cy="3200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未分层时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04935" y="2960249"/>
            <a:ext cx="4014537" cy="135812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入口脚本里堆任务逻辑</a:t>
            </a:r>
            <a:endParaRPr lang="en-US" sz="2000" dirty="0">
              <a:solidFill>
                <a:srgbClr val="17171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奖励、观测、仿真参数混写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新人不知道从哪读代码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改一处牵动全身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450946" y="2553502"/>
            <a:ext cx="1828800" cy="3200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分层后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66625" y="2960249"/>
            <a:ext cx="3520440" cy="13581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每层只处理自己的职责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读代码先判断文件属于哪层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排查问题有明确方向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改动边界更清晰</a:t>
            </a:r>
            <a:endParaRPr lang="en-US" sz="20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B546CC-9CEE-86D2-8574-78AE121E8EEC}"/>
              </a:ext>
            </a:extLst>
          </p:cNvPr>
          <p:cNvGrpSpPr/>
          <p:nvPr/>
        </p:nvGrpSpPr>
        <p:grpSpPr>
          <a:xfrm>
            <a:off x="4782312" y="2674620"/>
            <a:ext cx="2103120" cy="1508760"/>
            <a:chOff x="4919472" y="2423160"/>
            <a:chExt cx="2103120" cy="1508760"/>
          </a:xfrm>
        </p:grpSpPr>
        <p:sp>
          <p:nvSpPr>
            <p:cNvPr id="12" name="Shape 8"/>
            <p:cNvSpPr/>
            <p:nvPr/>
          </p:nvSpPr>
          <p:spPr>
            <a:xfrm>
              <a:off x="5056632" y="3477768"/>
              <a:ext cx="1828800" cy="0"/>
            </a:xfrm>
            <a:prstGeom prst="line">
              <a:avLst/>
            </a:prstGeom>
            <a:noFill/>
            <a:ln w="27940">
              <a:solidFill>
                <a:srgbClr val="E52B2B"/>
              </a:solidFill>
              <a:prstDash val="solid"/>
              <a:tailEnd type="triangle"/>
            </a:ln>
          </p:spPr>
        </p:sp>
        <p:sp>
          <p:nvSpPr>
            <p:cNvPr id="13" name="Text 9"/>
            <p:cNvSpPr/>
            <p:nvPr/>
          </p:nvSpPr>
          <p:spPr>
            <a:xfrm>
              <a:off x="5079492" y="2423160"/>
              <a:ext cx="1783080" cy="274320"/>
            </a:xfrm>
            <a:prstGeom prst="rect">
              <a:avLst/>
            </a:prstGeom>
            <a:noFill/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000" dirty="0" err="1">
                  <a:solidFill>
                    <a:srgbClr val="6B7280"/>
                  </a:solidFill>
                  <a:latin typeface="Microsoft YaHei" pitchFamily="34" charset="0"/>
                  <a:ea typeface="Microsoft YaHei" pitchFamily="34" charset="-122"/>
                </a:rPr>
                <a:t>核心思路</a:t>
              </a:r>
              <a:endPara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4974336" y="2859024"/>
              <a:ext cx="1993392" cy="457200"/>
            </a:xfrm>
            <a:prstGeom prst="rect">
              <a:avLst/>
            </a:prstGeom>
            <a:noFill/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E52B2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按职责拆系统</a:t>
              </a:r>
              <a:endParaRPr lang="en-US" sz="210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4919472" y="3639312"/>
              <a:ext cx="2103120" cy="292608"/>
            </a:xfrm>
            <a:prstGeom prst="rect">
              <a:avLst/>
            </a:prstGeom>
            <a:noFill/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6B728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再按调用链串起来</a:t>
              </a:r>
              <a:endParaRPr lang="en-US" sz="2800" dirty="0"/>
            </a:p>
          </p:txBody>
        </p:sp>
      </p:grpSp>
      <p:sp>
        <p:nvSpPr>
          <p:cNvPr id="16" name="Text 12"/>
          <p:cNvSpPr/>
          <p:nvPr/>
        </p:nvSpPr>
        <p:spPr>
          <a:xfrm>
            <a:off x="2148840" y="5138928"/>
            <a:ext cx="8029876" cy="852798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读代码时先分层；改代码时也按层改。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57589CE2-31B0-9E08-A5BA-319AD25BE71C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20" name="Image 0" descr="/mnt/data/xbotics_logo_clean.png">
            <a:extLst>
              <a:ext uri="{FF2B5EF4-FFF2-40B4-BE49-F238E27FC236}">
                <a16:creationId xmlns:a16="http://schemas.microsoft.com/office/drawing/2014/main" id="{03A77720-12B2-0BEE-D988-9F6151F0C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21" name="Image 1" descr="/mnt/data/motphys_logo_clean.png">
            <a:extLst>
              <a:ext uri="{FF2B5EF4-FFF2-40B4-BE49-F238E27FC236}">
                <a16:creationId xmlns:a16="http://schemas.microsoft.com/office/drawing/2014/main" id="{9CF34E18-9FCE-DD49-1E0D-9DACD322F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450111" y="192911"/>
            <a:ext cx="6217920" cy="6736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四层结构总览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58368" y="1085087"/>
            <a:ext cx="987552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从用户命令到物理状态推进：四层协作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58368" y="1574050"/>
            <a:ext cx="932688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自上而下启动，自下而上返回状态、奖励和终止信号。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3551" y="2267712"/>
            <a:ext cx="3703320" cy="658368"/>
          </a:xfrm>
          <a:prstGeom prst="rect">
            <a:avLst/>
          </a:prstGeom>
          <a:solidFill>
            <a:srgbClr val="FDEDED"/>
          </a:solidFill>
          <a:ln>
            <a:solidFill>
              <a:srgbClr val="F4B7B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用户接口层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2595211" y="2944368"/>
            <a:ext cx="0" cy="155448"/>
          </a:xfrm>
          <a:prstGeom prst="line">
            <a:avLst/>
          </a:prstGeom>
          <a:noFill/>
          <a:ln w="1778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743551" y="3136392"/>
            <a:ext cx="3703320" cy="658368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训练算法层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2595211" y="3813048"/>
            <a:ext cx="0" cy="155448"/>
          </a:xfrm>
          <a:prstGeom prst="line">
            <a:avLst/>
          </a:prstGeom>
          <a:noFill/>
          <a:ln w="1778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2" name="Text 8"/>
          <p:cNvSpPr/>
          <p:nvPr/>
        </p:nvSpPr>
        <p:spPr>
          <a:xfrm>
            <a:off x="743551" y="4005072"/>
            <a:ext cx="3703320" cy="658368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环境实现层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595211" y="4681728"/>
            <a:ext cx="0" cy="155448"/>
          </a:xfrm>
          <a:prstGeom prst="line">
            <a:avLst/>
          </a:prstGeom>
          <a:noFill/>
          <a:ln w="1778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743551" y="4873752"/>
            <a:ext cx="3703320" cy="658368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物理仿真层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394960" y="2078149"/>
            <a:ext cx="52578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接收命令，启动训练 / 推理 / 可视化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417820" y="2373978"/>
            <a:ext cx="530352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train.py / play.py / view.py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5417820" y="2913474"/>
            <a:ext cx="52578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策略学习，与环境交互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417820" y="3242658"/>
            <a:ext cx="530352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policy / rollout / PPO / checkpoint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417820" y="3782154"/>
            <a:ext cx="52578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定义任务：看到什么、做什么、得多少奖励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417820" y="4111338"/>
            <a:ext cx="530352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EnvCfg / Env / Reward / reset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5417820" y="4650834"/>
            <a:ext cx="5257800" cy="2560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推进底层物理状态，让机器人真实运动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5394960" y="4980018"/>
            <a:ext cx="530352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6B728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URDF / MJCF / sim_dt / contact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7745131" y="5503417"/>
            <a:ext cx="1051560" cy="3302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记忆口诀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5559071" y="5916168"/>
            <a:ext cx="5806440" cy="365760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接口启动，算法学习，环境定任务，仿真推物理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D65E88AD-D36C-6E6D-0565-D72352FB5BFE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27" name="Image 0" descr="/mnt/data/xbotics_logo_clean.png">
            <a:extLst>
              <a:ext uri="{FF2B5EF4-FFF2-40B4-BE49-F238E27FC236}">
                <a16:creationId xmlns:a16="http://schemas.microsoft.com/office/drawing/2014/main" id="{102D61CF-4137-A51E-E0FF-165473CB2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28" name="Image 1" descr="/mnt/data/motphys_logo_clean.png">
            <a:extLst>
              <a:ext uri="{FF2B5EF4-FFF2-40B4-BE49-F238E27FC236}">
                <a16:creationId xmlns:a16="http://schemas.microsoft.com/office/drawing/2014/main" id="{A65A3DB6-BBEE-4944-696B-9A90CF329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557214" y="268545"/>
            <a:ext cx="6772771" cy="558264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用户接口层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58368" y="1028940"/>
            <a:ext cx="987552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用户接口层：训练入口与命令行参数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58368" y="1559132"/>
            <a:ext cx="932688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使用者最先接触的入口脚本，不承载具体任务逻辑。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31519" y="2180241"/>
            <a:ext cx="2156059" cy="463978"/>
          </a:xfrm>
          <a:prstGeom prst="rect">
            <a:avLst/>
          </a:prstGeom>
          <a:solidFill>
            <a:srgbClr val="FDEDED"/>
          </a:solidFill>
          <a:ln>
            <a:solidFill>
              <a:srgbClr val="FDED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职责边界</a:t>
            </a:r>
            <a:r>
              <a:rPr lang="zh-CN" altLang="en-US" sz="20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31520" y="2914127"/>
            <a:ext cx="2468880" cy="34747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读取命令行参数</a:t>
            </a:r>
            <a:endParaRPr lang="en-US" sz="1350" b="1" dirty="0"/>
          </a:p>
        </p:txBody>
      </p:sp>
      <p:sp>
        <p:nvSpPr>
          <p:cNvPr id="10" name="Text 6"/>
          <p:cNvSpPr/>
          <p:nvPr/>
        </p:nvSpPr>
        <p:spPr>
          <a:xfrm>
            <a:off x="731520" y="3499343"/>
            <a:ext cx="2468880" cy="34747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确定 env_name</a:t>
            </a:r>
            <a:endParaRPr lang="en-US" sz="1350" b="1" dirty="0"/>
          </a:p>
        </p:txBody>
      </p:sp>
      <p:sp>
        <p:nvSpPr>
          <p:cNvPr id="11" name="Text 7"/>
          <p:cNvSpPr/>
          <p:nvPr/>
        </p:nvSpPr>
        <p:spPr>
          <a:xfrm>
            <a:off x="731520" y="4084559"/>
            <a:ext cx="2468880" cy="34747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选择训练 / 仿真后端</a:t>
            </a:r>
            <a:endParaRPr lang="en-US" sz="1350" b="1" dirty="0"/>
          </a:p>
        </p:txBody>
      </p:sp>
      <p:sp>
        <p:nvSpPr>
          <p:cNvPr id="12" name="Text 8"/>
          <p:cNvSpPr/>
          <p:nvPr/>
        </p:nvSpPr>
        <p:spPr>
          <a:xfrm>
            <a:off x="731520" y="4669775"/>
            <a:ext cx="2468880" cy="34747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处理 num_envs、seed、render、policy</a:t>
            </a:r>
            <a:endParaRPr lang="en-US" sz="1350" b="1" dirty="0"/>
          </a:p>
        </p:txBody>
      </p:sp>
      <p:sp>
        <p:nvSpPr>
          <p:cNvPr id="13" name="Text 9"/>
          <p:cNvSpPr/>
          <p:nvPr/>
        </p:nvSpPr>
        <p:spPr>
          <a:xfrm>
            <a:off x="3703320" y="2914127"/>
            <a:ext cx="2468880" cy="347472"/>
          </a:xfrm>
          <a:prstGeom prst="rect">
            <a:avLst/>
          </a:prstGeom>
          <a:solidFill>
            <a:srgbClr val="FBFBFB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组装配置覆盖</a:t>
            </a:r>
            <a:endParaRPr lang="en-US" sz="1350" b="1" dirty="0"/>
          </a:p>
        </p:txBody>
      </p:sp>
      <p:sp>
        <p:nvSpPr>
          <p:cNvPr id="14" name="Text 10"/>
          <p:cNvSpPr/>
          <p:nvPr/>
        </p:nvSpPr>
        <p:spPr>
          <a:xfrm>
            <a:off x="3703320" y="3499343"/>
            <a:ext cx="2468880" cy="347472"/>
          </a:xfrm>
          <a:prstGeom prst="rect">
            <a:avLst/>
          </a:prstGeom>
          <a:solidFill>
            <a:srgbClr val="FBFBFB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创建 Trainer 或环境</a:t>
            </a:r>
            <a:endParaRPr lang="en-US" sz="1350" b="1" dirty="0"/>
          </a:p>
        </p:txBody>
      </p:sp>
      <p:sp>
        <p:nvSpPr>
          <p:cNvPr id="15" name="Text 11"/>
          <p:cNvSpPr/>
          <p:nvPr/>
        </p:nvSpPr>
        <p:spPr>
          <a:xfrm>
            <a:off x="3703320" y="4084559"/>
            <a:ext cx="2468880" cy="347472"/>
          </a:xfrm>
          <a:prstGeom prst="rect">
            <a:avLst/>
          </a:prstGeom>
          <a:solidFill>
            <a:srgbClr val="FBFBFB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启动 train / play / view</a:t>
            </a:r>
            <a:endParaRPr lang="en-US" sz="1350" b="1" dirty="0"/>
          </a:p>
        </p:txBody>
      </p:sp>
      <p:sp>
        <p:nvSpPr>
          <p:cNvPr id="16" name="Text 12"/>
          <p:cNvSpPr/>
          <p:nvPr/>
        </p:nvSpPr>
        <p:spPr>
          <a:xfrm>
            <a:off x="6812280" y="2278619"/>
            <a:ext cx="4206240" cy="56692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入口脚本不应该写奖励设计、观测处理、机器人任务语义。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6812280" y="3032999"/>
            <a:ext cx="3408947" cy="77266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排查方向</a:t>
            </a:r>
            <a:r>
              <a:rPr lang="zh-CN" alt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7018020" y="3812525"/>
            <a:ext cx="37947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命令行参数传错</a:t>
            </a:r>
            <a:endParaRPr lang="en-US" sz="1450" dirty="0"/>
          </a:p>
          <a:p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 名称不存在</a:t>
            </a:r>
            <a:endParaRPr lang="en-US" sz="1450" dirty="0"/>
          </a:p>
          <a:p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后端选择异常</a:t>
            </a:r>
            <a:endParaRPr lang="en-US" sz="1450" dirty="0"/>
          </a:p>
          <a:p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num_envs / seed 没生效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965960" y="5733288"/>
            <a:ext cx="7955280" cy="402336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关键判断：入口层负责“启动”，不负责“任务本身”。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9102BAD-965A-F37D-4747-DB8DAC74F60B}"/>
              </a:ext>
            </a:extLst>
          </p:cNvPr>
          <p:cNvSpPr/>
          <p:nvPr/>
        </p:nvSpPr>
        <p:spPr>
          <a:xfrm>
            <a:off x="731519" y="2775282"/>
            <a:ext cx="5440681" cy="2557594"/>
          </a:xfrm>
          <a:prstGeom prst="roundRect">
            <a:avLst>
              <a:gd name="adj" fmla="val 9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790734C8-81B7-3E56-4DA8-8C748C12EAF2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26" name="Image 0" descr="/mnt/data/xbotics_logo_clean.png">
            <a:extLst>
              <a:ext uri="{FF2B5EF4-FFF2-40B4-BE49-F238E27FC236}">
                <a16:creationId xmlns:a16="http://schemas.microsoft.com/office/drawing/2014/main" id="{2B05BE88-82B8-A734-378D-5F847B3C0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27" name="Image 1" descr="/mnt/data/motphys_logo_clean.png">
            <a:extLst>
              <a:ext uri="{FF2B5EF4-FFF2-40B4-BE49-F238E27FC236}">
                <a16:creationId xmlns:a16="http://schemas.microsoft.com/office/drawing/2014/main" id="{6F41583A-D212-B0A5-6FB3-8003DE936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612456" y="177070"/>
            <a:ext cx="6303645" cy="71323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训练算法层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58368" y="1036961"/>
            <a:ext cx="987552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训练算法层：策略学习与 RL 后端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85800" y="1549025"/>
            <a:ext cx="932688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算法层关注“如何训练策略”，不理解机器人任务语义。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4389120" y="2795969"/>
            <a:ext cx="3337560" cy="0"/>
          </a:xfrm>
          <a:prstGeom prst="line">
            <a:avLst/>
          </a:prstGeom>
          <a:noFill/>
          <a:ln w="2159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2228850" y="2382002"/>
            <a:ext cx="2011680" cy="914400"/>
          </a:xfrm>
          <a:prstGeom prst="rect">
            <a:avLst/>
          </a:prstGeom>
          <a:solidFill>
            <a:srgbClr val="FDEDED"/>
          </a:solidFill>
          <a:ln>
            <a:solidFill>
              <a:srgbClr val="F4B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Trainer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178165" y="2362200"/>
            <a:ext cx="1828800" cy="914400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448300" y="2459886"/>
            <a:ext cx="1219200" cy="274315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417795" y="2657202"/>
            <a:ext cx="3571775" cy="851027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/ reward / done / info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29500" y="4306234"/>
            <a:ext cx="132588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典型职责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429500" y="4655312"/>
            <a:ext cx="4312018" cy="2540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创建 policy / value 网络</a:t>
            </a:r>
            <a:endParaRPr lang="en-US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采集 rollout</a:t>
            </a:r>
            <a:endParaRPr lang="en-US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计算 advantage</a:t>
            </a:r>
            <a:endParaRPr lang="en-US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计算 policy / value / entropy loss</a:t>
            </a:r>
            <a:endParaRPr lang="en-US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执行 optimizer step</a:t>
            </a:r>
            <a:endParaRPr lang="en-US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保存 checkpoint 和日志</a:t>
            </a:r>
            <a:endParaRPr lang="en-US" dirty="0">
              <a:latin typeface="+mj-lt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02920" y="4311368"/>
            <a:ext cx="1234440" cy="29260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重要认知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515082" y="4718305"/>
            <a:ext cx="6446520" cy="38404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 只优化环境返回的 reward。reward 设计错了，算法再调也没用。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15082" y="5294377"/>
            <a:ext cx="640080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同一个环境可以接不同 RL backend，但需要对应 RLCfg 注册。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F5E45D93-CFE7-E1BF-9A93-E94C8C8762C4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21" name="Image 0" descr="/mnt/data/xbotics_logo_clean.png">
            <a:extLst>
              <a:ext uri="{FF2B5EF4-FFF2-40B4-BE49-F238E27FC236}">
                <a16:creationId xmlns:a16="http://schemas.microsoft.com/office/drawing/2014/main" id="{0525B7E4-7C7A-58A8-5B3D-6A96021BE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22" name="Image 1" descr="/mnt/data/motphys_logo_clean.png">
            <a:extLst>
              <a:ext uri="{FF2B5EF4-FFF2-40B4-BE49-F238E27FC236}">
                <a16:creationId xmlns:a16="http://schemas.microsoft.com/office/drawing/2014/main" id="{4461C784-BB79-F032-7239-8C3118429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487168" y="146504"/>
            <a:ext cx="6217920" cy="847211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环境实现层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58368" y="1061024"/>
            <a:ext cx="987552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环境实现层：任务逻辑的核心位置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85800" y="1573088"/>
            <a:ext cx="932688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机器人强化学习任务的问题，很多都出在这一层。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651248" y="2116328"/>
            <a:ext cx="1889760" cy="3131818"/>
          </a:xfrm>
          <a:prstGeom prst="rect">
            <a:avLst/>
          </a:prstGeom>
          <a:solidFill>
            <a:srgbClr val="FDEDED"/>
          </a:solidFill>
          <a:ln>
            <a:solidFill>
              <a:srgbClr val="F4B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52B2B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Env / </a:t>
            </a:r>
            <a:r>
              <a:rPr lang="en-US" sz="2000" b="1" dirty="0" err="1">
                <a:solidFill>
                  <a:srgbClr val="E52B2B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EnvCfg</a:t>
            </a:r>
            <a:endParaRPr lang="en-US" sz="2000" b="1" dirty="0">
              <a:solidFill>
                <a:srgbClr val="E52B2B"/>
              </a:solidFill>
              <a:latin typeface="+mj-lt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E52B2B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 / Reward</a:t>
            </a:r>
            <a:endParaRPr lang="en-US" sz="2000" dirty="0">
              <a:latin typeface="+mj-lt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224784" y="2392546"/>
            <a:ext cx="1161288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1167384" y="2200522"/>
            <a:ext cx="2057400" cy="384048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看到了什么？</a:t>
            </a:r>
            <a:endParaRPr lang="en-US" sz="2000" dirty="0">
              <a:latin typeface="+mj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67384" y="2639434"/>
            <a:ext cx="205740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+mj-lt"/>
                <a:ea typeface="Aptos Mono" pitchFamily="34" charset="-122"/>
                <a:cs typeface="Aptos Mono" pitchFamily="34" charset="-120"/>
              </a:rPr>
              <a:t>observation</a:t>
            </a:r>
            <a:endParaRPr lang="en-US" sz="2000" dirty="0">
              <a:latin typeface="+mj-lt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224784" y="3552390"/>
            <a:ext cx="1161288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1167384" y="3343522"/>
            <a:ext cx="2057400" cy="384048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能输出什么？</a:t>
            </a:r>
            <a:endParaRPr lang="en-US" sz="2000" dirty="0">
              <a:latin typeface="+mj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67384" y="3782434"/>
            <a:ext cx="205740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+mj-lt"/>
                <a:ea typeface="Aptos Mono" pitchFamily="34" charset="-122"/>
                <a:cs typeface="Aptos Mono" pitchFamily="34" charset="-120"/>
              </a:rPr>
              <a:t>action space</a:t>
            </a:r>
            <a:endParaRPr lang="en-US" sz="2000" dirty="0">
              <a:latin typeface="+mj-lt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24784" y="4678546"/>
            <a:ext cx="1161288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1167384" y="4486522"/>
            <a:ext cx="2057400" cy="384048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动作怎么作用？</a:t>
            </a:r>
            <a:endParaRPr lang="en-US" sz="2000" dirty="0">
              <a:latin typeface="+mj-lt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167384" y="4925434"/>
            <a:ext cx="205740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+mj-lt"/>
                <a:ea typeface="Aptos Mono" pitchFamily="34" charset="-122"/>
                <a:cs typeface="Aptos Mono" pitchFamily="34" charset="-120"/>
              </a:rPr>
              <a:t>action 处理</a:t>
            </a:r>
            <a:endParaRPr lang="en-US" sz="2000" dirty="0">
              <a:latin typeface="+mj-lt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785168" y="2407654"/>
            <a:ext cx="795528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80696" y="2087614"/>
            <a:ext cx="2565936" cy="384048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一步后如何变化？</a:t>
            </a:r>
            <a:endParaRPr lang="en-US" sz="2000" dirty="0">
              <a:latin typeface="+mj-lt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773201" y="2526526"/>
            <a:ext cx="205740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+mj-lt"/>
                <a:ea typeface="Aptos Mono" pitchFamily="34" charset="-122"/>
                <a:cs typeface="Aptos Mono" pitchFamily="34" charset="-120"/>
              </a:rPr>
              <a:t>step / reset</a:t>
            </a:r>
            <a:endParaRPr lang="en-US" sz="2000" dirty="0">
              <a:latin typeface="+mj-lt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785168" y="3550654"/>
            <a:ext cx="795528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80696" y="3230614"/>
            <a:ext cx="2565936" cy="384048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得多少奖励？</a:t>
            </a:r>
            <a:endParaRPr lang="en-US" sz="2000" dirty="0">
              <a:latin typeface="+mj-lt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7773201" y="3660515"/>
            <a:ext cx="205740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+mj-lt"/>
                <a:ea typeface="Aptos Mono" pitchFamily="34" charset="-122"/>
                <a:cs typeface="Aptos Mono" pitchFamily="34" charset="-120"/>
              </a:rPr>
              <a:t>reward</a:t>
            </a:r>
            <a:endParaRPr lang="en-US" sz="2000" dirty="0">
              <a:latin typeface="+mj-lt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785168" y="4693654"/>
            <a:ext cx="795528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0696" y="4373614"/>
            <a:ext cx="2565936" cy="384048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何时结束？</a:t>
            </a:r>
            <a:endParaRPr lang="en-US" sz="2000" dirty="0">
              <a:latin typeface="+mj-lt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7834964" y="4826442"/>
            <a:ext cx="2057400" cy="2794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+mj-lt"/>
                <a:ea typeface="Aptos Mono" pitchFamily="34" charset="-122"/>
                <a:cs typeface="Aptos Mono" pitchFamily="34" charset="-120"/>
              </a:rPr>
              <a:t>termination</a:t>
            </a:r>
            <a:endParaRPr lang="en-US" sz="2000" dirty="0">
              <a:latin typeface="+mj-lt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074420" y="5687568"/>
            <a:ext cx="9966960" cy="822960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常见问题：观测缺信息、动作尺度不合理、奖励方向写反、奖励量级失衡、终止条件太严或太松。</a:t>
            </a:r>
            <a:endParaRPr lang="en-US" sz="1650" dirty="0"/>
          </a:p>
        </p:txBody>
      </p:sp>
      <p:sp>
        <p:nvSpPr>
          <p:cNvPr id="28" name="Text 24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818C8430-CB8D-B91E-C370-9025ECCE9339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31" name="Image 0" descr="/mnt/data/xbotics_logo_clean.png">
            <a:extLst>
              <a:ext uri="{FF2B5EF4-FFF2-40B4-BE49-F238E27FC236}">
                <a16:creationId xmlns:a16="http://schemas.microsoft.com/office/drawing/2014/main" id="{C25E730E-D27F-5BF9-6FC0-C1E029B96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32" name="Image 1" descr="/mnt/data/motphys_logo_clean.png">
            <a:extLst>
              <a:ext uri="{FF2B5EF4-FFF2-40B4-BE49-F238E27FC236}">
                <a16:creationId xmlns:a16="http://schemas.microsoft.com/office/drawing/2014/main" id="{D10777FE-B290-5C62-82F0-E6951D927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604596" y="185688"/>
            <a:ext cx="6563627" cy="767293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物理仿真层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43960" y="1076827"/>
            <a:ext cx="987552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物理仿真层：机器人状态推进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58368" y="1593301"/>
            <a:ext cx="932688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让机器人在模拟世界中真实地运动；物理系统不稳，训练算法也救不回来。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2286000" y="2625290"/>
            <a:ext cx="603504" cy="0"/>
          </a:xfrm>
          <a:prstGeom prst="line">
            <a:avLst/>
          </a:prstGeom>
          <a:noFill/>
          <a:ln w="1778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9" name="Text 5"/>
          <p:cNvSpPr/>
          <p:nvPr/>
        </p:nvSpPr>
        <p:spPr>
          <a:xfrm>
            <a:off x="502920" y="2358830"/>
            <a:ext cx="1783080" cy="493776"/>
          </a:xfrm>
          <a:prstGeom prst="rect">
            <a:avLst/>
          </a:prstGeom>
          <a:solidFill>
            <a:srgbClr val="FDEDED"/>
          </a:solidFill>
          <a:ln>
            <a:solidFill>
              <a:srgbClr val="F4B7B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模型加载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33172" y="2924554"/>
            <a:ext cx="2112264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ea typeface="Microsoft YaHei" pitchFamily="34" charset="-122"/>
                <a:cs typeface="Microsoft YaHei" pitchFamily="34" charset="-120"/>
              </a:rPr>
              <a:t>URDF / MJCF / XML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361350" y="2671171"/>
            <a:ext cx="603504" cy="0"/>
          </a:xfrm>
          <a:prstGeom prst="line">
            <a:avLst/>
          </a:prstGeom>
          <a:noFill/>
          <a:ln w="1778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2" name="Text 8"/>
          <p:cNvSpPr/>
          <p:nvPr/>
        </p:nvSpPr>
        <p:spPr>
          <a:xfrm>
            <a:off x="3281814" y="2384659"/>
            <a:ext cx="1994274" cy="493776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执行器与传感器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911722" y="2929128"/>
            <a:ext cx="2552459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ea typeface="Microsoft YaHei" pitchFamily="34" charset="-122"/>
                <a:cs typeface="Microsoft YaHei" pitchFamily="34" charset="-120"/>
              </a:rPr>
              <a:t>关节 / actuator / sensor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635240" y="2671171"/>
            <a:ext cx="603504" cy="0"/>
          </a:xfrm>
          <a:prstGeom prst="line">
            <a:avLst/>
          </a:prstGeom>
          <a:noFill/>
          <a:ln w="1778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6044184" y="2424283"/>
            <a:ext cx="1572768" cy="493776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接触参数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03088" y="2929128"/>
            <a:ext cx="2296748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ea typeface="Microsoft YaHei" pitchFamily="34" charset="-122"/>
                <a:cs typeface="Microsoft YaHei" pitchFamily="34" charset="-120"/>
              </a:rPr>
              <a:t>碰撞 / 摩擦 / contact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811512" y="2607644"/>
            <a:ext cx="603504" cy="0"/>
          </a:xfrm>
          <a:prstGeom prst="line">
            <a:avLst/>
          </a:prstGeom>
          <a:noFill/>
          <a:ln w="1778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8229600" y="2396531"/>
            <a:ext cx="1572768" cy="493776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时间步长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238744" y="2929128"/>
            <a:ext cx="1572768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ea typeface="Microsoft YaHei" pitchFamily="34" charset="-122"/>
                <a:cs typeface="Microsoft YaHei" pitchFamily="34" charset="-120"/>
              </a:rPr>
              <a:t>sim_dt / ctrl_dt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0415016" y="2359152"/>
            <a:ext cx="1572768" cy="493776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7"/>
                </a:solidFill>
                <a:ea typeface="Microsoft YaHei" pitchFamily="34" charset="-122"/>
                <a:cs typeface="Microsoft YaHei" pitchFamily="34" charset="-120"/>
              </a:rPr>
              <a:t>动力学积分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415016" y="2918059"/>
            <a:ext cx="1572768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ea typeface="Microsoft YaHei" pitchFamily="34" charset="-122"/>
                <a:cs typeface="Microsoft YaHei" pitchFamily="34" charset="-120"/>
              </a:rPr>
              <a:t>推进物理状态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36333" y="3519722"/>
            <a:ext cx="1851419" cy="64079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典型症状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841248" y="4160520"/>
            <a:ext cx="43434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机器人一开始就抖动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穿模、爆炸、飞走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接触不稳定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控制输入和实际动作不一致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仿真速度或频率异常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330295" y="3529185"/>
            <a:ext cx="2296748" cy="648103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排查方向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537960" y="4160520"/>
            <a:ext cx="4434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初始状态是否合法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模型文件路径是否正确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关节范围、质量、惯性是否合理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sim_dt / ctrl_dt 是否匹配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动作是否超过执行器能力范围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CB5BEF4C-4285-0ECC-7A84-E37C0B7908CF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28" name="Image 0" descr="/mnt/data/xbotics_logo_clean.png">
            <a:extLst>
              <a:ext uri="{FF2B5EF4-FFF2-40B4-BE49-F238E27FC236}">
                <a16:creationId xmlns:a16="http://schemas.microsoft.com/office/drawing/2014/main" id="{55EDE011-A0C8-5E8D-CF12-315C404E1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29" name="Image 1" descr="/mnt/data/motphys_logo_clean.png">
            <a:extLst>
              <a:ext uri="{FF2B5EF4-FFF2-40B4-BE49-F238E27FC236}">
                <a16:creationId xmlns:a16="http://schemas.microsoft.com/office/drawing/2014/main" id="{22682534-3DA8-5688-BD82-0279A4FFD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139696" y="-87909"/>
            <a:ext cx="6912864" cy="1353099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完整调用链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58368" y="1133855"/>
            <a:ext cx="987552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把四层串起来：读代码的主线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58368" y="1709928"/>
            <a:ext cx="932688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不要孤立看某个类，要看它在链路中负责哪一步。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3291840" y="27066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9" name="Text 5"/>
          <p:cNvSpPr/>
          <p:nvPr/>
        </p:nvSpPr>
        <p:spPr>
          <a:xfrm>
            <a:off x="740664" y="2487168"/>
            <a:ext cx="2514600" cy="438912"/>
          </a:xfrm>
          <a:prstGeom prst="rect">
            <a:avLst/>
          </a:prstGeom>
          <a:solidFill>
            <a:srgbClr val="FDEDED"/>
          </a:solidFill>
          <a:ln>
            <a:solidFill>
              <a:srgbClr val="F4B7B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用户命令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062472" y="27066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1" name="Text 7"/>
          <p:cNvSpPr/>
          <p:nvPr/>
        </p:nvSpPr>
        <p:spPr>
          <a:xfrm>
            <a:off x="3511296" y="24871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解析参数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833104" y="27066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6281928" y="24871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env_name 找注册项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10309860" y="2962656"/>
            <a:ext cx="0" cy="384048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9052560" y="24871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加载 EnvCfg / RLCfg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291840" y="36210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740664" y="34015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创建环境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062472" y="36210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3511296" y="34015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创建 Trainer / Agent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833104" y="36210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6281928" y="34015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policy 输出 action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10309860" y="3877056"/>
            <a:ext cx="0" cy="384048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23" name="Text 19"/>
          <p:cNvSpPr/>
          <p:nvPr/>
        </p:nvSpPr>
        <p:spPr>
          <a:xfrm>
            <a:off x="9052560" y="34015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Env 接收 action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3291840" y="45354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740664" y="43159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仿真推进状态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062472" y="45354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27" name="Text 23"/>
          <p:cNvSpPr/>
          <p:nvPr/>
        </p:nvSpPr>
        <p:spPr>
          <a:xfrm>
            <a:off x="3511296" y="43159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Env 返回 obs / reward / done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833104" y="4535424"/>
            <a:ext cx="182880" cy="0"/>
          </a:xfrm>
          <a:prstGeom prst="line">
            <a:avLst/>
          </a:prstGeom>
          <a:noFill/>
          <a:ln w="13970">
            <a:solidFill>
              <a:srgbClr val="E52B2B"/>
            </a:solidFill>
            <a:prstDash val="solid"/>
            <a:tailEnd type="triangle"/>
          </a:ln>
        </p:spPr>
      </p:sp>
      <p:sp>
        <p:nvSpPr>
          <p:cNvPr id="29" name="Text 25"/>
          <p:cNvSpPr/>
          <p:nvPr/>
        </p:nvSpPr>
        <p:spPr>
          <a:xfrm>
            <a:off x="6281928" y="4315968"/>
            <a:ext cx="2514600" cy="438912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算法更新策略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9052560" y="4315968"/>
            <a:ext cx="2514600" cy="438912"/>
          </a:xfrm>
          <a:prstGeom prst="rect">
            <a:avLst/>
          </a:prstGeom>
          <a:solidFill>
            <a:srgbClr val="FDEDED"/>
          </a:solidFill>
          <a:ln>
            <a:solidFill>
              <a:srgbClr val="F4B7B7"/>
            </a:solidFill>
          </a:ln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保存日志 / checkpoint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2103120" y="5317958"/>
            <a:ext cx="7955280" cy="680506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判断问题时，先定位它卡在链路的哪一步；再回到对应层查。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9E127BED-7ED8-65F8-99FC-48D4CC6C6D0A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34" name="Image 0" descr="/mnt/data/xbotics_logo_clean.png">
            <a:extLst>
              <a:ext uri="{FF2B5EF4-FFF2-40B4-BE49-F238E27FC236}">
                <a16:creationId xmlns:a16="http://schemas.microsoft.com/office/drawing/2014/main" id="{FEFC236E-B257-5744-B3BE-DEF38009E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35" name="Image 1" descr="/mnt/data/motphys_logo_clean.png">
            <a:extLst>
              <a:ext uri="{FF2B5EF4-FFF2-40B4-BE49-F238E27FC236}">
                <a16:creationId xmlns:a16="http://schemas.microsoft.com/office/drawing/2014/main" id="{428628F1-5676-07D1-9A33-EAFA0E716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034540" y="103238"/>
            <a:ext cx="7285522" cy="944721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分层排查表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685800" y="1022132"/>
            <a:ext cx="987552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问题先归层，再决定改哪里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85800" y="1556765"/>
            <a:ext cx="932688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训练不收敛不一定是算法问题；很多时候是观测、动作、奖励或物理配置。</a:t>
            </a:r>
            <a:endParaRPr lang="en-US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E547CB0-D580-3BC2-24E3-AC6DFF8D450F}"/>
              </a:ext>
            </a:extLst>
          </p:cNvPr>
          <p:cNvGrpSpPr/>
          <p:nvPr/>
        </p:nvGrpSpPr>
        <p:grpSpPr>
          <a:xfrm>
            <a:off x="777240" y="2061972"/>
            <a:ext cx="10241280" cy="3483864"/>
            <a:chOff x="777240" y="1783080"/>
            <a:chExt cx="10241280" cy="3483864"/>
          </a:xfrm>
        </p:grpSpPr>
        <p:sp>
          <p:nvSpPr>
            <p:cNvPr id="8" name="Text 4"/>
            <p:cNvSpPr/>
            <p:nvPr/>
          </p:nvSpPr>
          <p:spPr>
            <a:xfrm>
              <a:off x="777240" y="1783080"/>
              <a:ext cx="2834640" cy="384048"/>
            </a:xfrm>
            <a:prstGeom prst="rect">
              <a:avLst/>
            </a:prstGeom>
            <a:solidFill>
              <a:srgbClr val="111827"/>
            </a:solidFill>
            <a:ln>
              <a:solidFill>
                <a:srgbClr val="111827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问题</a:t>
              </a:r>
              <a:endParaRPr lang="en-US" sz="14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3611880" y="1783080"/>
              <a:ext cx="2148840" cy="384048"/>
            </a:xfrm>
            <a:prstGeom prst="rect">
              <a:avLst/>
            </a:prstGeom>
            <a:solidFill>
              <a:srgbClr val="111827"/>
            </a:solidFill>
            <a:ln>
              <a:solidFill>
                <a:srgbClr val="111827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优先检查</a:t>
              </a:r>
              <a:endParaRPr lang="en-US" sz="14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5760720" y="1783080"/>
              <a:ext cx="5257800" cy="384048"/>
            </a:xfrm>
            <a:prstGeom prst="rect">
              <a:avLst/>
            </a:prstGeom>
            <a:solidFill>
              <a:srgbClr val="111827"/>
            </a:solidFill>
            <a:ln>
              <a:solidFill>
                <a:srgbClr val="111827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看什么</a:t>
              </a:r>
              <a:endParaRPr lang="en-US" sz="14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777240" y="2221992"/>
              <a:ext cx="283464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入口命令报错</a:t>
              </a:r>
              <a:endParaRPr lang="en-US" sz="14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3611880" y="2221992"/>
              <a:ext cx="214884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用户接口层</a:t>
              </a:r>
              <a:endParaRPr lang="en-US" sz="14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5760720" y="2221992"/>
              <a:ext cx="525780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env / backend / num_envs / seed / policy</a:t>
              </a:r>
              <a:endParaRPr lang="en-US" sz="14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777240" y="2734056"/>
              <a:ext cx="283464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环境名找不到</a:t>
              </a:r>
              <a:endParaRPr lang="en-US" sz="140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3611880" y="2734056"/>
              <a:ext cx="214884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注册系统</a:t>
              </a:r>
              <a:endParaRPr lang="en-US" sz="14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5760720" y="2734056"/>
              <a:ext cx="525780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@envcfg / @rlcfg / env 实现</a:t>
              </a:r>
              <a:endParaRPr lang="en-US" sz="1400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777240" y="3246120"/>
              <a:ext cx="283464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环境创建失败</a:t>
              </a:r>
              <a:endParaRPr lang="en-US" sz="1400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3611880" y="3246120"/>
              <a:ext cx="214884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环境 + 仿真</a:t>
              </a:r>
              <a:endParaRPr lang="en-US" sz="140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5760720" y="3246120"/>
              <a:ext cx="525780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EnvCfg 默认值 / 模型路径 / backend</a:t>
              </a:r>
              <a:endParaRPr lang="en-US" sz="140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777240" y="3758184"/>
              <a:ext cx="283464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reward 异常</a:t>
              </a:r>
              <a:endParaRPr lang="en-US" sz="1400" dirty="0"/>
            </a:p>
          </p:txBody>
        </p:sp>
        <p:sp>
          <p:nvSpPr>
            <p:cNvPr id="21" name="Text 17"/>
            <p:cNvSpPr/>
            <p:nvPr/>
          </p:nvSpPr>
          <p:spPr>
            <a:xfrm>
              <a:off x="3611880" y="3758184"/>
              <a:ext cx="214884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环境实现层</a:t>
              </a:r>
              <a:endParaRPr lang="en-US" sz="1400" dirty="0"/>
            </a:p>
          </p:txBody>
        </p:sp>
        <p:sp>
          <p:nvSpPr>
            <p:cNvPr id="22" name="Text 18"/>
            <p:cNvSpPr/>
            <p:nvPr/>
          </p:nvSpPr>
          <p:spPr>
            <a:xfrm>
              <a:off x="5760720" y="3758184"/>
              <a:ext cx="525780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Reward / 状态读取 / done 条件</a:t>
              </a:r>
              <a:endParaRPr lang="en-US" sz="1400" dirty="0"/>
            </a:p>
          </p:txBody>
        </p:sp>
        <p:sp>
          <p:nvSpPr>
            <p:cNvPr id="23" name="Text 19"/>
            <p:cNvSpPr/>
            <p:nvPr/>
          </p:nvSpPr>
          <p:spPr>
            <a:xfrm>
              <a:off x="777240" y="4270248"/>
              <a:ext cx="283464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机器人动作异常</a:t>
              </a:r>
              <a:endParaRPr lang="en-US" sz="1400" dirty="0"/>
            </a:p>
          </p:txBody>
        </p:sp>
        <p:sp>
          <p:nvSpPr>
            <p:cNvPr id="24" name="Text 20"/>
            <p:cNvSpPr/>
            <p:nvPr/>
          </p:nvSpPr>
          <p:spPr>
            <a:xfrm>
              <a:off x="3611880" y="4270248"/>
              <a:ext cx="214884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环境 + 仿真</a:t>
              </a:r>
              <a:endParaRPr lang="en-US" sz="1400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5760720" y="4270248"/>
              <a:ext cx="5257800" cy="484632"/>
            </a:xfrm>
            <a:prstGeom prst="rect">
              <a:avLst/>
            </a:prstGeom>
            <a:solidFill>
              <a:srgbClr val="F9FAFB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动作处理 / 控制接口</a:t>
              </a:r>
              <a:endParaRPr lang="en-US" sz="140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777240" y="4782312"/>
              <a:ext cx="283464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52B2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训练不收敛</a:t>
              </a:r>
              <a:endParaRPr lang="en-US" sz="1400" dirty="0"/>
            </a:p>
          </p:txBody>
        </p:sp>
        <p:sp>
          <p:nvSpPr>
            <p:cNvPr id="27" name="Text 23"/>
            <p:cNvSpPr/>
            <p:nvPr/>
          </p:nvSpPr>
          <p:spPr>
            <a:xfrm>
              <a:off x="3611880" y="4782312"/>
              <a:ext cx="214884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7171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先环境后算法</a:t>
              </a:r>
              <a:endParaRPr lang="en-US" sz="1400" dirty="0"/>
            </a:p>
          </p:txBody>
        </p:sp>
        <p:sp>
          <p:nvSpPr>
            <p:cNvPr id="28" name="Text 24"/>
            <p:cNvSpPr/>
            <p:nvPr/>
          </p:nvSpPr>
          <p:spPr>
            <a:xfrm>
              <a:off x="5760720" y="4782312"/>
              <a:ext cx="5257800" cy="4846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观测 / 动作 / 奖励，再看 PPO 配置</a:t>
              </a:r>
              <a:endParaRPr lang="en-US" sz="1400" dirty="0"/>
            </a:p>
          </p:txBody>
        </p:sp>
      </p:grpSp>
      <p:sp>
        <p:nvSpPr>
          <p:cNvPr id="29" name="Text 25"/>
          <p:cNvSpPr/>
          <p:nvPr/>
        </p:nvSpPr>
        <p:spPr>
          <a:xfrm>
            <a:off x="2034540" y="5852160"/>
            <a:ext cx="813816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经验顺序：先看观测、动作、奖励，再看 PPO 超参。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5C9115EB-130B-6A59-38F4-8540E25E47F1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33" name="Image 0" descr="/mnt/data/xbotics_logo_clean.png">
            <a:extLst>
              <a:ext uri="{FF2B5EF4-FFF2-40B4-BE49-F238E27FC236}">
                <a16:creationId xmlns:a16="http://schemas.microsoft.com/office/drawing/2014/main" id="{571859B0-766E-2D10-124D-F20226277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34" name="Image 1" descr="/mnt/data/motphys_logo_clean.png">
            <a:extLst>
              <a:ext uri="{FF2B5EF4-FFF2-40B4-BE49-F238E27FC236}">
                <a16:creationId xmlns:a16="http://schemas.microsoft.com/office/drawing/2014/main" id="{CF0A23F2-A0D6-A98E-3F1A-D94FEE976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686292" y="241888"/>
            <a:ext cx="6353433" cy="663383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658368" y="1298448"/>
            <a:ext cx="9875520" cy="5029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基本原则：用分层掌握项目地图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58368" y="1856232"/>
            <a:ext cx="932688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理解四层关系后，剩下就是沿调用链找到具体代码位置。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85800" y="2532888"/>
            <a:ext cx="4251158" cy="7315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读代码时先分层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234440" y="3264408"/>
            <a:ext cx="40233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入口负责启动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算法负责学习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环境负责任务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仿真负责物理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866372" y="2692908"/>
            <a:ext cx="4663440" cy="41148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5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改代码时按层改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983480" y="3319273"/>
            <a:ext cx="7364531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不要在训练脚本里硬写任务逻辑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不要在算法层塞机器人语义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不要把可调参数散落在 Env 内部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不要把物理不稳定简单归结为 reward 或 learning_rate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440180" y="5623560"/>
            <a:ext cx="9326880" cy="475488"/>
          </a:xfrm>
          <a:prstGeom prst="rect">
            <a:avLst/>
          </a:prstGeom>
          <a:solidFill>
            <a:srgbClr val="F5F6F8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有问题，从分层入手。改代码，也从分层入手。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1201400" y="6382512"/>
            <a:ext cx="347472" cy="254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23C117A6-9CA1-6A7D-87EE-A77D53BE9B9D}"/>
              </a:ext>
            </a:extLst>
          </p:cNvPr>
          <p:cNvSpPr/>
          <p:nvPr/>
        </p:nvSpPr>
        <p:spPr>
          <a:xfrm>
            <a:off x="594360" y="966535"/>
            <a:ext cx="10972800" cy="0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17" name="Image 0" descr="/mnt/data/xbotics_logo_clean.png">
            <a:extLst>
              <a:ext uri="{FF2B5EF4-FFF2-40B4-BE49-F238E27FC236}">
                <a16:creationId xmlns:a16="http://schemas.microsoft.com/office/drawing/2014/main" id="{BA969E1D-1899-3577-1740-0EE01B37C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6" y="309022"/>
            <a:ext cx="1512712" cy="440575"/>
          </a:xfrm>
          <a:prstGeom prst="rect">
            <a:avLst/>
          </a:prstGeom>
        </p:spPr>
      </p:pic>
      <p:pic>
        <p:nvPicPr>
          <p:cNvPr id="18" name="Image 1" descr="/mnt/data/motphys_logo_clean.png">
            <a:extLst>
              <a:ext uri="{FF2B5EF4-FFF2-40B4-BE49-F238E27FC236}">
                <a16:creationId xmlns:a16="http://schemas.microsoft.com/office/drawing/2014/main" id="{974FD0A3-A1DE-63B3-E108-EF5299A9E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63" y="326780"/>
            <a:ext cx="1779803" cy="441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873</Words>
  <Application>Microsoft Office PowerPoint</Application>
  <PresentationFormat>宽屏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Aptos Mono</vt:lpstr>
      <vt:lpstr>阿里巴巴普惠体 M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Xbotics / Motphys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MotrixLab 基础框架：分层架构</dc:title>
  <dc:subject>MotrixLab 分层架构</dc:subject>
  <dc:creator>OpenAI</dc:creator>
  <cp:lastModifiedBy>YANG ZENG</cp:lastModifiedBy>
  <cp:revision>4</cp:revision>
  <dcterms:created xsi:type="dcterms:W3CDTF">2026-05-10T03:04:43Z</dcterms:created>
  <dcterms:modified xsi:type="dcterms:W3CDTF">2026-05-11T12:48:07Z</dcterms:modified>
</cp:coreProperties>
</file>